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9" r:id="rId2"/>
    <p:sldId id="257" r:id="rId3"/>
    <p:sldId id="278" r:id="rId4"/>
    <p:sldId id="279" r:id="rId5"/>
    <p:sldId id="280" r:id="rId6"/>
    <p:sldId id="287" r:id="rId7"/>
    <p:sldId id="281" r:id="rId8"/>
    <p:sldId id="282" r:id="rId9"/>
    <p:sldId id="285" r:id="rId10"/>
    <p:sldId id="284" r:id="rId11"/>
    <p:sldId id="264" r:id="rId12"/>
    <p:sldId id="265" r:id="rId13"/>
    <p:sldId id="266" r:id="rId14"/>
    <p:sldId id="267" r:id="rId15"/>
    <p:sldId id="268" r:id="rId16"/>
    <p:sldId id="269" r:id="rId17"/>
    <p:sldId id="270" r:id="rId18"/>
    <p:sldId id="271" r:id="rId19"/>
    <p:sldId id="260" r:id="rId20"/>
    <p:sldId id="272" r:id="rId21"/>
    <p:sldId id="263" r:id="rId22"/>
    <p:sldId id="273" r:id="rId23"/>
    <p:sldId id="274" r:id="rId24"/>
    <p:sldId id="275" r:id="rId25"/>
    <p:sldId id="276"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Andres Ulloa Quezada" initials="SAUQ" lastIdx="1" clrIdx="0">
    <p:extLst>
      <p:ext uri="{19B8F6BF-5375-455C-9EA6-DF929625EA0E}">
        <p15:presenceInfo xmlns:p15="http://schemas.microsoft.com/office/powerpoint/2012/main" userId="Sebastian Andres Ulloa Quezad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7D16"/>
    <a:srgbClr val="D94862"/>
    <a:srgbClr val="BF3F4A"/>
    <a:srgbClr val="7ED9D0"/>
    <a:srgbClr val="3B8DBF"/>
    <a:srgbClr val="2C3359"/>
    <a:srgbClr val="2B3EBA"/>
    <a:srgbClr val="F2F2F2"/>
    <a:srgbClr val="54ACBF"/>
    <a:srgbClr val="395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E4DCBD-DDE7-416D-A7F8-469DFA4CEDEE}" v="27" dt="2022-07-08T03:11:46.85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43" autoAdjust="0"/>
    <p:restoredTop sz="94660"/>
  </p:normalViewPr>
  <p:slideViewPr>
    <p:cSldViewPr snapToGrid="0">
      <p:cViewPr varScale="1">
        <p:scale>
          <a:sx n="118" d="100"/>
          <a:sy n="118" d="100"/>
        </p:scale>
        <p:origin x="132" y="3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Andres Ulloa Quezada" userId="e3cba82caada5b63" providerId="LiveId" clId="{FEE4DCBD-DDE7-416D-A7F8-469DFA4CEDEE}"/>
    <pc:docChg chg="undo custSel addSld delSld modSld sldOrd">
      <pc:chgData name="Sebastian Andres Ulloa Quezada" userId="e3cba82caada5b63" providerId="LiveId" clId="{FEE4DCBD-DDE7-416D-A7F8-469DFA4CEDEE}" dt="2022-07-08T03:13:33.461" v="184" actId="108"/>
      <pc:docMkLst>
        <pc:docMk/>
      </pc:docMkLst>
      <pc:sldChg chg="ord">
        <pc:chgData name="Sebastian Andres Ulloa Quezada" userId="e3cba82caada5b63" providerId="LiveId" clId="{FEE4DCBD-DDE7-416D-A7F8-469DFA4CEDEE}" dt="2022-07-08T03:06:16.779" v="46"/>
        <pc:sldMkLst>
          <pc:docMk/>
          <pc:sldMk cId="809020038" sldId="457"/>
        </pc:sldMkLst>
      </pc:sldChg>
      <pc:sldChg chg="ord">
        <pc:chgData name="Sebastian Andres Ulloa Quezada" userId="e3cba82caada5b63" providerId="LiveId" clId="{FEE4DCBD-DDE7-416D-A7F8-469DFA4CEDEE}" dt="2022-07-08T03:06:16.779" v="46"/>
        <pc:sldMkLst>
          <pc:docMk/>
          <pc:sldMk cId="1604821949" sldId="458"/>
        </pc:sldMkLst>
      </pc:sldChg>
      <pc:sldChg chg="ord">
        <pc:chgData name="Sebastian Andres Ulloa Quezada" userId="e3cba82caada5b63" providerId="LiveId" clId="{FEE4DCBD-DDE7-416D-A7F8-469DFA4CEDEE}" dt="2022-07-08T03:06:16.779" v="46"/>
        <pc:sldMkLst>
          <pc:docMk/>
          <pc:sldMk cId="72193178" sldId="459"/>
        </pc:sldMkLst>
      </pc:sldChg>
      <pc:sldChg chg="del">
        <pc:chgData name="Sebastian Andres Ulloa Quezada" userId="e3cba82caada5b63" providerId="LiveId" clId="{FEE4DCBD-DDE7-416D-A7F8-469DFA4CEDEE}" dt="2022-07-08T03:03:12.869" v="10" actId="47"/>
        <pc:sldMkLst>
          <pc:docMk/>
          <pc:sldMk cId="2509938258" sldId="463"/>
        </pc:sldMkLst>
      </pc:sldChg>
      <pc:sldChg chg="addSp delSp modSp new mod ord">
        <pc:chgData name="Sebastian Andres Ulloa Quezada" userId="e3cba82caada5b63" providerId="LiveId" clId="{FEE4DCBD-DDE7-416D-A7F8-469DFA4CEDEE}" dt="2022-07-08T03:04:04.925" v="25"/>
        <pc:sldMkLst>
          <pc:docMk/>
          <pc:sldMk cId="2569815293" sldId="464"/>
        </pc:sldMkLst>
        <pc:spChg chg="del">
          <ac:chgData name="Sebastian Andres Ulloa Quezada" userId="e3cba82caada5b63" providerId="LiveId" clId="{FEE4DCBD-DDE7-416D-A7F8-469DFA4CEDEE}" dt="2022-07-08T03:02:42.755" v="2" actId="478"/>
          <ac:spMkLst>
            <pc:docMk/>
            <pc:sldMk cId="2569815293" sldId="464"/>
            <ac:spMk id="2" creationId="{A5B44231-0CE3-D8A0-70EB-305C5E5B30A0}"/>
          </ac:spMkLst>
        </pc:spChg>
        <pc:spChg chg="del">
          <ac:chgData name="Sebastian Andres Ulloa Quezada" userId="e3cba82caada5b63" providerId="LiveId" clId="{FEE4DCBD-DDE7-416D-A7F8-469DFA4CEDEE}" dt="2022-07-08T03:02:44.192" v="3" actId="478"/>
          <ac:spMkLst>
            <pc:docMk/>
            <pc:sldMk cId="2569815293" sldId="464"/>
            <ac:spMk id="3" creationId="{7B426746-60EE-E60B-6FBD-CCF4BB37806D}"/>
          </ac:spMkLst>
        </pc:spChg>
        <pc:picChg chg="add mod">
          <ac:chgData name="Sebastian Andres Ulloa Quezada" userId="e3cba82caada5b63" providerId="LiveId" clId="{FEE4DCBD-DDE7-416D-A7F8-469DFA4CEDEE}" dt="2022-07-08T03:02:45.641" v="4" actId="1076"/>
          <ac:picMkLst>
            <pc:docMk/>
            <pc:sldMk cId="2569815293" sldId="464"/>
            <ac:picMk id="1026" creationId="{262175A4-43FB-D330-70A3-564482119A19}"/>
          </ac:picMkLst>
        </pc:picChg>
      </pc:sldChg>
      <pc:sldChg chg="modSp new mod ord">
        <pc:chgData name="Sebastian Andres Ulloa Quezada" userId="e3cba82caada5b63" providerId="LiveId" clId="{FEE4DCBD-DDE7-416D-A7F8-469DFA4CEDEE}" dt="2022-07-08T03:13:33.461" v="184" actId="108"/>
        <pc:sldMkLst>
          <pc:docMk/>
          <pc:sldMk cId="833538645" sldId="465"/>
        </pc:sldMkLst>
        <pc:spChg chg="mod">
          <ac:chgData name="Sebastian Andres Ulloa Quezada" userId="e3cba82caada5b63" providerId="LiveId" clId="{FEE4DCBD-DDE7-416D-A7F8-469DFA4CEDEE}" dt="2022-07-08T03:09:30.572" v="84" actId="20577"/>
          <ac:spMkLst>
            <pc:docMk/>
            <pc:sldMk cId="833538645" sldId="465"/>
            <ac:spMk id="2" creationId="{82D5501E-14F4-1EAA-793D-E12CB75B18DA}"/>
          </ac:spMkLst>
        </pc:spChg>
        <pc:spChg chg="mod">
          <ac:chgData name="Sebastian Andres Ulloa Quezada" userId="e3cba82caada5b63" providerId="LiveId" clId="{FEE4DCBD-DDE7-416D-A7F8-469DFA4CEDEE}" dt="2022-07-08T03:13:33.461" v="184" actId="108"/>
          <ac:spMkLst>
            <pc:docMk/>
            <pc:sldMk cId="833538645" sldId="465"/>
            <ac:spMk id="3" creationId="{47452DEA-EF25-F89B-5436-5176E5888E51}"/>
          </ac:spMkLst>
        </pc:spChg>
      </pc:sldChg>
      <pc:sldChg chg="addSp delSp modSp new mod">
        <pc:chgData name="Sebastian Andres Ulloa Quezada" userId="e3cba82caada5b63" providerId="LiveId" clId="{FEE4DCBD-DDE7-416D-A7F8-469DFA4CEDEE}" dt="2022-07-08T03:10:18.221" v="104" actId="122"/>
        <pc:sldMkLst>
          <pc:docMk/>
          <pc:sldMk cId="1126853962" sldId="466"/>
        </pc:sldMkLst>
        <pc:spChg chg="del">
          <ac:chgData name="Sebastian Andres Ulloa Quezada" userId="e3cba82caada5b63" providerId="LiveId" clId="{FEE4DCBD-DDE7-416D-A7F8-469DFA4CEDEE}" dt="2022-07-08T03:04:14.573" v="28" actId="478"/>
          <ac:spMkLst>
            <pc:docMk/>
            <pc:sldMk cId="1126853962" sldId="466"/>
            <ac:spMk id="2" creationId="{2EFF2512-6572-0C86-355C-899FFB05E325}"/>
          </ac:spMkLst>
        </pc:spChg>
        <pc:spChg chg="mod">
          <ac:chgData name="Sebastian Andres Ulloa Quezada" userId="e3cba82caada5b63" providerId="LiveId" clId="{FEE4DCBD-DDE7-416D-A7F8-469DFA4CEDEE}" dt="2022-07-08T03:10:10.286" v="102" actId="113"/>
          <ac:spMkLst>
            <pc:docMk/>
            <pc:sldMk cId="1126853962" sldId="466"/>
            <ac:spMk id="3" creationId="{A9B49D01-0AAB-0AC3-EEF0-CF34A1D7C507}"/>
          </ac:spMkLst>
        </pc:spChg>
        <pc:spChg chg="add mod">
          <ac:chgData name="Sebastian Andres Ulloa Quezada" userId="e3cba82caada5b63" providerId="LiveId" clId="{FEE4DCBD-DDE7-416D-A7F8-469DFA4CEDEE}" dt="2022-07-08T03:10:18.221" v="104" actId="122"/>
          <ac:spMkLst>
            <pc:docMk/>
            <pc:sldMk cId="1126853962" sldId="466"/>
            <ac:spMk id="5" creationId="{6398A983-A6F6-1360-D5B9-13760E9BA774}"/>
          </ac:spMkLst>
        </pc:spChg>
      </pc:sldChg>
      <pc:sldChg chg="addSp delSp modSp new mod ord">
        <pc:chgData name="Sebastian Andres Ulloa Quezada" userId="e3cba82caada5b63" providerId="LiveId" clId="{FEE4DCBD-DDE7-416D-A7F8-469DFA4CEDEE}" dt="2022-07-08T03:05:30.307" v="39"/>
        <pc:sldMkLst>
          <pc:docMk/>
          <pc:sldMk cId="2944701508" sldId="467"/>
        </pc:sldMkLst>
        <pc:spChg chg="del">
          <ac:chgData name="Sebastian Andres Ulloa Quezada" userId="e3cba82caada5b63" providerId="LiveId" clId="{FEE4DCBD-DDE7-416D-A7F8-469DFA4CEDEE}" dt="2022-07-08T03:04:42.795" v="34" actId="478"/>
          <ac:spMkLst>
            <pc:docMk/>
            <pc:sldMk cId="2944701508" sldId="467"/>
            <ac:spMk id="2" creationId="{7D523EE5-0F6E-6FA6-B8E5-43DBAFFF5F42}"/>
          </ac:spMkLst>
        </pc:spChg>
        <pc:spChg chg="del">
          <ac:chgData name="Sebastian Andres Ulloa Quezada" userId="e3cba82caada5b63" providerId="LiveId" clId="{FEE4DCBD-DDE7-416D-A7F8-469DFA4CEDEE}" dt="2022-07-08T03:04:42.280" v="33" actId="478"/>
          <ac:spMkLst>
            <pc:docMk/>
            <pc:sldMk cId="2944701508" sldId="467"/>
            <ac:spMk id="3" creationId="{85706A4C-0406-08C6-CF3D-B09CD8B31793}"/>
          </ac:spMkLst>
        </pc:spChg>
        <pc:picChg chg="add mod">
          <ac:chgData name="Sebastian Andres Ulloa Quezada" userId="e3cba82caada5b63" providerId="LiveId" clId="{FEE4DCBD-DDE7-416D-A7F8-469DFA4CEDEE}" dt="2022-07-08T03:04:47.332" v="36" actId="14100"/>
          <ac:picMkLst>
            <pc:docMk/>
            <pc:sldMk cId="2944701508" sldId="467"/>
            <ac:picMk id="29698" creationId="{B06CBF96-1C90-5922-7491-5F3DC13F77E4}"/>
          </ac:picMkLst>
        </pc:picChg>
      </pc:sldChg>
      <pc:sldChg chg="modSp new mod">
        <pc:chgData name="Sebastian Andres Ulloa Quezada" userId="e3cba82caada5b63" providerId="LiveId" clId="{FEE4DCBD-DDE7-416D-A7F8-469DFA4CEDEE}" dt="2022-07-08T03:13:22.833" v="183" actId="108"/>
        <pc:sldMkLst>
          <pc:docMk/>
          <pc:sldMk cId="1239064976" sldId="468"/>
        </pc:sldMkLst>
        <pc:spChg chg="mod">
          <ac:chgData name="Sebastian Andres Ulloa Quezada" userId="e3cba82caada5b63" providerId="LiveId" clId="{FEE4DCBD-DDE7-416D-A7F8-469DFA4CEDEE}" dt="2022-07-08T03:13:17.394" v="182" actId="108"/>
          <ac:spMkLst>
            <pc:docMk/>
            <pc:sldMk cId="1239064976" sldId="468"/>
            <ac:spMk id="2" creationId="{AADE92BC-1D6F-1BB8-737D-EECC71447BB4}"/>
          </ac:spMkLst>
        </pc:spChg>
        <pc:spChg chg="mod">
          <ac:chgData name="Sebastian Andres Ulloa Quezada" userId="e3cba82caada5b63" providerId="LiveId" clId="{FEE4DCBD-DDE7-416D-A7F8-469DFA4CEDEE}" dt="2022-07-08T03:13:22.833" v="183" actId="108"/>
          <ac:spMkLst>
            <pc:docMk/>
            <pc:sldMk cId="1239064976" sldId="468"/>
            <ac:spMk id="3" creationId="{BF286CD8-FF88-7A27-A500-5223EC876E09}"/>
          </ac:spMkLst>
        </pc:spChg>
      </pc:sldChg>
      <pc:sldChg chg="modSp new mod">
        <pc:chgData name="Sebastian Andres Ulloa Quezada" userId="e3cba82caada5b63" providerId="LiveId" clId="{FEE4DCBD-DDE7-416D-A7F8-469DFA4CEDEE}" dt="2022-07-08T03:13:05.948" v="180" actId="108"/>
        <pc:sldMkLst>
          <pc:docMk/>
          <pc:sldMk cId="4259678748" sldId="469"/>
        </pc:sldMkLst>
        <pc:spChg chg="mod">
          <ac:chgData name="Sebastian Andres Ulloa Quezada" userId="e3cba82caada5b63" providerId="LiveId" clId="{FEE4DCBD-DDE7-416D-A7F8-469DFA4CEDEE}" dt="2022-07-08T03:12:21.801" v="177" actId="27636"/>
          <ac:spMkLst>
            <pc:docMk/>
            <pc:sldMk cId="4259678748" sldId="469"/>
            <ac:spMk id="2" creationId="{A078B29C-D743-6057-3042-405A45FE1122}"/>
          </ac:spMkLst>
        </pc:spChg>
        <pc:spChg chg="mod">
          <ac:chgData name="Sebastian Andres Ulloa Quezada" userId="e3cba82caada5b63" providerId="LiveId" clId="{FEE4DCBD-DDE7-416D-A7F8-469DFA4CEDEE}" dt="2022-07-08T03:13:05.948" v="180" actId="108"/>
          <ac:spMkLst>
            <pc:docMk/>
            <pc:sldMk cId="4259678748" sldId="469"/>
            <ac:spMk id="3" creationId="{01F47145-5F36-8422-0467-CAF7BF1D8A14}"/>
          </ac:spMkLst>
        </pc:spChg>
      </pc:sldChg>
      <pc:sldChg chg="addSp delSp modSp new mod">
        <pc:chgData name="Sebastian Andres Ulloa Quezada" userId="e3cba82caada5b63" providerId="LiveId" clId="{FEE4DCBD-DDE7-416D-A7F8-469DFA4CEDEE}" dt="2022-07-08T03:07:25.226" v="65" actId="20577"/>
        <pc:sldMkLst>
          <pc:docMk/>
          <pc:sldMk cId="40033815" sldId="470"/>
        </pc:sldMkLst>
        <pc:spChg chg="mod">
          <ac:chgData name="Sebastian Andres Ulloa Quezada" userId="e3cba82caada5b63" providerId="LiveId" clId="{FEE4DCBD-DDE7-416D-A7F8-469DFA4CEDEE}" dt="2022-07-08T03:07:25.226" v="65" actId="20577"/>
          <ac:spMkLst>
            <pc:docMk/>
            <pc:sldMk cId="40033815" sldId="470"/>
            <ac:spMk id="2" creationId="{A5D6AE3B-A9EF-1B0E-C0FF-F2BCE8700587}"/>
          </ac:spMkLst>
        </pc:spChg>
        <pc:spChg chg="del">
          <ac:chgData name="Sebastian Andres Ulloa Quezada" userId="e3cba82caada5b63" providerId="LiveId" clId="{FEE4DCBD-DDE7-416D-A7F8-469DFA4CEDEE}" dt="2022-07-08T03:07:19.560" v="57" actId="478"/>
          <ac:spMkLst>
            <pc:docMk/>
            <pc:sldMk cId="40033815" sldId="470"/>
            <ac:spMk id="3" creationId="{0C95B101-730C-AC4A-9804-FCAB75832709}"/>
          </ac:spMkLst>
        </pc:spChg>
        <pc:picChg chg="add mod">
          <ac:chgData name="Sebastian Andres Ulloa Quezada" userId="e3cba82caada5b63" providerId="LiveId" clId="{FEE4DCBD-DDE7-416D-A7F8-469DFA4CEDEE}" dt="2022-07-08T03:07:17.816" v="56" actId="1076"/>
          <ac:picMkLst>
            <pc:docMk/>
            <pc:sldMk cId="40033815" sldId="470"/>
            <ac:picMk id="30722" creationId="{6E23E3FA-E4E0-E3AE-CDB3-9230AF0FFE26}"/>
          </ac:picMkLst>
        </pc:picChg>
      </pc:sldChg>
      <pc:sldChg chg="addSp modSp new">
        <pc:chgData name="Sebastian Andres Ulloa Quezada" userId="e3cba82caada5b63" providerId="LiveId" clId="{FEE4DCBD-DDE7-416D-A7F8-469DFA4CEDEE}" dt="2022-07-08T03:07:57.686" v="71" actId="1076"/>
        <pc:sldMkLst>
          <pc:docMk/>
          <pc:sldMk cId="705754486" sldId="471"/>
        </pc:sldMkLst>
        <pc:picChg chg="add mod">
          <ac:chgData name="Sebastian Andres Ulloa Quezada" userId="e3cba82caada5b63" providerId="LiveId" clId="{FEE4DCBD-DDE7-416D-A7F8-469DFA4CEDEE}" dt="2022-07-08T03:07:57.686" v="71" actId="1076"/>
          <ac:picMkLst>
            <pc:docMk/>
            <pc:sldMk cId="705754486" sldId="471"/>
            <ac:picMk id="31746" creationId="{CF3FCBC3-C5D1-1A11-CCDA-A57E65A5F0F3}"/>
          </ac:picMkLst>
        </pc:picChg>
      </pc:sldChg>
      <pc:sldChg chg="addSp modSp new">
        <pc:chgData name="Sebastian Andres Ulloa Quezada" userId="e3cba82caada5b63" providerId="LiveId" clId="{FEE4DCBD-DDE7-416D-A7F8-469DFA4CEDEE}" dt="2022-07-08T03:08:13.876" v="76" actId="1076"/>
        <pc:sldMkLst>
          <pc:docMk/>
          <pc:sldMk cId="3982348358" sldId="472"/>
        </pc:sldMkLst>
        <pc:picChg chg="add mod">
          <ac:chgData name="Sebastian Andres Ulloa Quezada" userId="e3cba82caada5b63" providerId="LiveId" clId="{FEE4DCBD-DDE7-416D-A7F8-469DFA4CEDEE}" dt="2022-07-08T03:08:13.876" v="76" actId="1076"/>
          <ac:picMkLst>
            <pc:docMk/>
            <pc:sldMk cId="3982348358" sldId="472"/>
            <ac:picMk id="32770" creationId="{F30A27EC-10AF-EE04-9829-10F7E6FF34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6194B9-D819-4023-8836-D4831F4391A5}" type="datetimeFigureOut">
              <a:rPr lang="es-CL" smtClean="0"/>
              <a:t>08-07-2022</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0AE14-2E56-403E-A667-769D0F94AEE4}" type="slidenum">
              <a:rPr lang="es-CL" smtClean="0"/>
              <a:t>‹Nº›</a:t>
            </a:fld>
            <a:endParaRPr lang="es-CL"/>
          </a:p>
        </p:txBody>
      </p:sp>
    </p:spTree>
    <p:extLst>
      <p:ext uri="{BB962C8B-B14F-4D97-AF65-F5344CB8AC3E}">
        <p14:creationId xmlns:p14="http://schemas.microsoft.com/office/powerpoint/2010/main" val="301520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BEB18C-FCB5-4FE4-87CF-B0E3F8F4011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A7BC569-1745-48A8-B42A-DE4FD30FE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9D6920DF-1E4B-4A67-B41B-5ED32B836145}"/>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5" name="Marcador de pie de página 4">
            <a:extLst>
              <a:ext uri="{FF2B5EF4-FFF2-40B4-BE49-F238E27FC236}">
                <a16:creationId xmlns:a16="http://schemas.microsoft.com/office/drawing/2014/main" id="{F42207B7-03F3-406E-B363-19C31176BD0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EB129A9-0376-4B81-AFA6-F5ED3373ACC8}"/>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29518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B553F-AA8B-4862-827F-EEF7B6AF02F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D7C41F4-A68F-415D-A124-A91B328843D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8CD49357-7BC0-4AFC-8022-624E8B1E8B0A}"/>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5" name="Marcador de pie de página 4">
            <a:extLst>
              <a:ext uri="{FF2B5EF4-FFF2-40B4-BE49-F238E27FC236}">
                <a16:creationId xmlns:a16="http://schemas.microsoft.com/office/drawing/2014/main" id="{A25A650C-F190-491F-AD3D-0FD23A1C529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665670E-59C2-4703-A96A-A956C41EC5E0}"/>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39267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B11F4-F867-41B2-9FB6-9771064AFA4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B2B305F-36B1-4022-B77F-403C2752D5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F50DB7D-003D-4427-A9D6-AD1BF68D41C8}"/>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5" name="Marcador de pie de página 4">
            <a:extLst>
              <a:ext uri="{FF2B5EF4-FFF2-40B4-BE49-F238E27FC236}">
                <a16:creationId xmlns:a16="http://schemas.microsoft.com/office/drawing/2014/main" id="{14AA3486-3ED4-4A58-B3C8-B2A6D5AC50B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CEF18C7-65B7-49A0-896D-9CD26EAF584D}"/>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366523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265CE-D306-4678-A1AD-8B1E9BC6824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0DA6931-7B45-4AA8-A2AF-150E3CBD023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1EC08749-FF8D-415C-987A-B7B90B0AA46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CB400639-9D6C-49E1-A221-00784C8916C1}"/>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6" name="Marcador de pie de página 5">
            <a:extLst>
              <a:ext uri="{FF2B5EF4-FFF2-40B4-BE49-F238E27FC236}">
                <a16:creationId xmlns:a16="http://schemas.microsoft.com/office/drawing/2014/main" id="{3379730B-5962-4CA8-9311-C0C55560422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D239088-7307-47AC-AEBE-B18AAA7493EE}"/>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842677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7CB8C-8FB5-435C-A719-4C5F3A55AA8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582A6E03-5848-472A-9182-2832A26B8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14BFEC9-469D-4EDF-8895-E2A2AF9E809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6E3ECCC-1239-4E7C-AFF8-B9C0B5A9FD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43E52CC-3E7B-415B-982B-C3A2E58923C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C0E6ED8-B980-4139-BF3B-1ACABCE5CEFA}"/>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8" name="Marcador de pie de página 7">
            <a:extLst>
              <a:ext uri="{FF2B5EF4-FFF2-40B4-BE49-F238E27FC236}">
                <a16:creationId xmlns:a16="http://schemas.microsoft.com/office/drawing/2014/main" id="{1C76B8E0-7A17-4008-94C5-E41919FA7F3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EAEEABC-BA7D-4990-801B-EAC869404968}"/>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741497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AA8205-4636-4BE2-A54E-00788B58C5F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3C4E80B-0189-4E18-A222-9C8C613F7C80}"/>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4" name="Marcador de pie de página 3">
            <a:extLst>
              <a:ext uri="{FF2B5EF4-FFF2-40B4-BE49-F238E27FC236}">
                <a16:creationId xmlns:a16="http://schemas.microsoft.com/office/drawing/2014/main" id="{2B06F4F9-DC2B-40A2-97DA-9D8D91D9BF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C37AB72-E63D-4181-8AAB-C0D2854F49AB}"/>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611323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7016EE6-8658-4E81-AF81-49FDFC45D90A}"/>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3" name="Marcador de pie de página 2">
            <a:extLst>
              <a:ext uri="{FF2B5EF4-FFF2-40B4-BE49-F238E27FC236}">
                <a16:creationId xmlns:a16="http://schemas.microsoft.com/office/drawing/2014/main" id="{36671D31-8524-4484-A858-43DBCBB103D7}"/>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DB81062F-5508-4C5A-9871-7B25C1F57267}"/>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2785239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4E5FAB-CAC2-4FF5-A19F-F4B093959D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1EB91E2-C285-4929-AF28-BFD2A58207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BDCCCD3-53BF-4BDD-93C8-501B67723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5E955A9-7BA8-46A3-8314-1438477E8A12}"/>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6" name="Marcador de pie de página 5">
            <a:extLst>
              <a:ext uri="{FF2B5EF4-FFF2-40B4-BE49-F238E27FC236}">
                <a16:creationId xmlns:a16="http://schemas.microsoft.com/office/drawing/2014/main" id="{AEAF77C2-5C22-4CF2-B03E-999EB933001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8AA25C7-589B-4E34-AF1F-BE3EB6601451}"/>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32981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925706-09A8-4B13-901D-FB968446254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0F6BC845-A8D0-49FE-9B4C-3E61980892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D1E8419C-20CF-4337-9D69-543C0584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EB6B5A-D6F8-4AF8-B3E2-86396157B5A1}"/>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6" name="Marcador de pie de página 5">
            <a:extLst>
              <a:ext uri="{FF2B5EF4-FFF2-40B4-BE49-F238E27FC236}">
                <a16:creationId xmlns:a16="http://schemas.microsoft.com/office/drawing/2014/main" id="{3A0708F8-9DF6-4BB1-A519-F33336DCA32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A640141-BDEC-43E2-8A43-F053476A025A}"/>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4245579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D96508-6566-4B8C-80EB-0BDBFEC0B60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520CDD96-AF5D-4952-B2F5-B912D798F3A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4B2377C-086D-40AF-AE49-2B2E6674EE42}"/>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5" name="Marcador de pie de página 4">
            <a:extLst>
              <a:ext uri="{FF2B5EF4-FFF2-40B4-BE49-F238E27FC236}">
                <a16:creationId xmlns:a16="http://schemas.microsoft.com/office/drawing/2014/main" id="{298CBAC9-DBF3-40BB-A191-B0262B5203F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A35AB9C-052B-4D6A-A249-16BADC2BF0DF}"/>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3041872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D55AA02-1C2B-43EB-936D-7B887B78027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FA61B6-3B25-4413-8106-3254CB467A8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0502D9B-AE90-4478-9C5F-A10B1ED13C8D}"/>
              </a:ext>
            </a:extLst>
          </p:cNvPr>
          <p:cNvSpPr>
            <a:spLocks noGrp="1"/>
          </p:cNvSpPr>
          <p:nvPr>
            <p:ph type="dt" sz="half" idx="10"/>
          </p:nvPr>
        </p:nvSpPr>
        <p:spPr/>
        <p:txBody>
          <a:bodyPr/>
          <a:lstStyle/>
          <a:p>
            <a:fld id="{06E1020F-2890-4D3B-B6EA-BF2FFFF16D76}" type="datetimeFigureOut">
              <a:rPr lang="es-CL" smtClean="0"/>
              <a:t>08-07-2022</a:t>
            </a:fld>
            <a:endParaRPr lang="es-CL"/>
          </a:p>
        </p:txBody>
      </p:sp>
      <p:sp>
        <p:nvSpPr>
          <p:cNvPr id="5" name="Marcador de pie de página 4">
            <a:extLst>
              <a:ext uri="{FF2B5EF4-FFF2-40B4-BE49-F238E27FC236}">
                <a16:creationId xmlns:a16="http://schemas.microsoft.com/office/drawing/2014/main" id="{635D8025-7AB8-44A7-8C25-4670B96F9C7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870545-3F8D-4D57-940C-57F35C7AA7E5}"/>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001908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F9CF74D-E24E-465D-BDE2-E55957E4E6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77D1D08-938E-451A-8241-29CA6BD28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B55F070-F80B-4924-8F8F-4CAEB8DD3B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1020F-2890-4D3B-B6EA-BF2FFFF16D76}" type="datetimeFigureOut">
              <a:rPr lang="es-CL" smtClean="0"/>
              <a:t>08-07-2022</a:t>
            </a:fld>
            <a:endParaRPr lang="es-CL"/>
          </a:p>
        </p:txBody>
      </p:sp>
      <p:sp>
        <p:nvSpPr>
          <p:cNvPr id="5" name="Marcador de pie de página 4">
            <a:extLst>
              <a:ext uri="{FF2B5EF4-FFF2-40B4-BE49-F238E27FC236}">
                <a16:creationId xmlns:a16="http://schemas.microsoft.com/office/drawing/2014/main" id="{4CC05B6A-F080-44BD-8DF4-FCC133F451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B98326-717A-4C7E-90A1-96D4D9632E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FB1AE-D7CB-402F-BA8E-26785F07C898}" type="slidenum">
              <a:rPr lang="es-CL" smtClean="0"/>
              <a:t>‹Nº›</a:t>
            </a:fld>
            <a:endParaRPr lang="es-CL"/>
          </a:p>
        </p:txBody>
      </p:sp>
    </p:spTree>
    <p:extLst>
      <p:ext uri="{BB962C8B-B14F-4D97-AF65-F5344CB8AC3E}">
        <p14:creationId xmlns:p14="http://schemas.microsoft.com/office/powerpoint/2010/main" val="3367451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4">
            <a:extLst>
              <a:ext uri="{FF2B5EF4-FFF2-40B4-BE49-F238E27FC236}">
                <a16:creationId xmlns:a16="http://schemas.microsoft.com/office/drawing/2014/main" id="{5F0DFEF2-015D-499F-AECE-1C9F1019D4B2}"/>
              </a:ext>
            </a:extLst>
          </p:cNvPr>
          <p:cNvGraphicFramePr>
            <a:graphicFrameLocks noGrp="1"/>
          </p:cNvGraphicFramePr>
          <p:nvPr>
            <p:extLst>
              <p:ext uri="{D42A27DB-BD31-4B8C-83A1-F6EECF244321}">
                <p14:modId xmlns:p14="http://schemas.microsoft.com/office/powerpoint/2010/main" val="1996489518"/>
              </p:ext>
            </p:extLst>
          </p:nvPr>
        </p:nvGraphicFramePr>
        <p:xfrm>
          <a:off x="0" y="0"/>
          <a:ext cx="12192000" cy="6858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446312468"/>
                    </a:ext>
                  </a:extLst>
                </a:gridCol>
                <a:gridCol w="2438400">
                  <a:extLst>
                    <a:ext uri="{9D8B030D-6E8A-4147-A177-3AD203B41FA5}">
                      <a16:colId xmlns:a16="http://schemas.microsoft.com/office/drawing/2014/main" val="678679980"/>
                    </a:ext>
                  </a:extLst>
                </a:gridCol>
                <a:gridCol w="2438400">
                  <a:extLst>
                    <a:ext uri="{9D8B030D-6E8A-4147-A177-3AD203B41FA5}">
                      <a16:colId xmlns:a16="http://schemas.microsoft.com/office/drawing/2014/main" val="4151945094"/>
                    </a:ext>
                  </a:extLst>
                </a:gridCol>
                <a:gridCol w="2438400">
                  <a:extLst>
                    <a:ext uri="{9D8B030D-6E8A-4147-A177-3AD203B41FA5}">
                      <a16:colId xmlns:a16="http://schemas.microsoft.com/office/drawing/2014/main" val="2132859141"/>
                    </a:ext>
                  </a:extLst>
                </a:gridCol>
                <a:gridCol w="2438400">
                  <a:extLst>
                    <a:ext uri="{9D8B030D-6E8A-4147-A177-3AD203B41FA5}">
                      <a16:colId xmlns:a16="http://schemas.microsoft.com/office/drawing/2014/main" val="382557360"/>
                    </a:ext>
                  </a:extLst>
                </a:gridCol>
              </a:tblGrid>
              <a:tr h="6858000">
                <a:tc>
                  <a:txBody>
                    <a:bodyPr/>
                    <a:lstStyle/>
                    <a:p>
                      <a:endParaRPr lang="es-CL" dirty="0"/>
                    </a:p>
                  </a:txBody>
                  <a:tcPr>
                    <a:solidFill>
                      <a:srgbClr val="BF3F4A"/>
                    </a:solidFill>
                  </a:tcPr>
                </a:tc>
                <a:tc>
                  <a:txBody>
                    <a:bodyPr/>
                    <a:lstStyle/>
                    <a:p>
                      <a:endParaRPr lang="es-CL" dirty="0"/>
                    </a:p>
                  </a:txBody>
                  <a:tcPr>
                    <a:solidFill>
                      <a:srgbClr val="D94862"/>
                    </a:solidFill>
                  </a:tcPr>
                </a:tc>
                <a:tc>
                  <a:txBody>
                    <a:bodyPr/>
                    <a:lstStyle/>
                    <a:p>
                      <a:endParaRPr lang="es-CL" dirty="0"/>
                    </a:p>
                  </a:txBody>
                  <a:tcPr>
                    <a:solidFill>
                      <a:srgbClr val="2C3359"/>
                    </a:solidFill>
                  </a:tcPr>
                </a:tc>
                <a:tc>
                  <a:txBody>
                    <a:bodyPr/>
                    <a:lstStyle/>
                    <a:p>
                      <a:endParaRPr lang="es-CL" dirty="0"/>
                    </a:p>
                  </a:txBody>
                  <a:tcPr>
                    <a:solidFill>
                      <a:srgbClr val="3B8DBF"/>
                    </a:solidFill>
                  </a:tcPr>
                </a:tc>
                <a:tc>
                  <a:txBody>
                    <a:bodyPr/>
                    <a:lstStyle/>
                    <a:p>
                      <a:endParaRPr lang="es-CL" dirty="0"/>
                    </a:p>
                  </a:txBody>
                  <a:tcPr>
                    <a:solidFill>
                      <a:srgbClr val="7ED9D0"/>
                    </a:solidFill>
                  </a:tcPr>
                </a:tc>
                <a:extLst>
                  <a:ext uri="{0D108BD9-81ED-4DB2-BD59-A6C34878D82A}">
                    <a16:rowId xmlns:a16="http://schemas.microsoft.com/office/drawing/2014/main" val="4140433137"/>
                  </a:ext>
                </a:extLst>
              </a:tr>
            </a:tbl>
          </a:graphicData>
        </a:graphic>
      </p:graphicFrame>
    </p:spTree>
    <p:extLst>
      <p:ext uri="{BB962C8B-B14F-4D97-AF65-F5344CB8AC3E}">
        <p14:creationId xmlns:p14="http://schemas.microsoft.com/office/powerpoint/2010/main" val="316403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3359"/>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827A918-39AC-44E7-8C06-EF719EF149C0}"/>
              </a:ext>
            </a:extLst>
          </p:cNvPr>
          <p:cNvSpPr txBox="1"/>
          <p:nvPr/>
        </p:nvSpPr>
        <p:spPr>
          <a:xfrm>
            <a:off x="181555" y="1636424"/>
            <a:ext cx="8815747" cy="2492990"/>
          </a:xfrm>
          <a:prstGeom prst="rect">
            <a:avLst/>
          </a:prstGeom>
          <a:noFill/>
        </p:spPr>
        <p:txBody>
          <a:bodyPr wrap="none" rtlCol="0">
            <a:spAutoFit/>
          </a:bodyPr>
          <a:lstStyle/>
          <a:p>
            <a:r>
              <a:rPr lang="en-US" sz="6000" dirty="0">
                <a:solidFill>
                  <a:schemeClr val="bg1"/>
                </a:solidFill>
                <a:latin typeface="Abadi Extra Light" panose="020B0204020104020204" pitchFamily="34" charset="0"/>
              </a:rPr>
              <a:t>Redes </a:t>
            </a:r>
            <a:r>
              <a:rPr lang="en-US" sz="6000" dirty="0" err="1">
                <a:solidFill>
                  <a:schemeClr val="bg1"/>
                </a:solidFill>
                <a:latin typeface="Abadi Extra Light" panose="020B0204020104020204" pitchFamily="34" charset="0"/>
              </a:rPr>
              <a:t>Neuronales</a:t>
            </a:r>
            <a:r>
              <a:rPr lang="en-US" sz="6000" dirty="0">
                <a:solidFill>
                  <a:schemeClr val="bg1"/>
                </a:solidFill>
                <a:latin typeface="Abadi Extra Light" panose="020B0204020104020204" pitchFamily="34" charset="0"/>
              </a:rPr>
              <a:t> </a:t>
            </a:r>
            <a:r>
              <a:rPr lang="es-CL" sz="6000" dirty="0">
                <a:solidFill>
                  <a:schemeClr val="bg1"/>
                </a:solidFill>
                <a:latin typeface="Abadi Extra Light" panose="020B0204020104020204" pitchFamily="34" charset="0"/>
              </a:rPr>
              <a:t>Artificiales</a:t>
            </a:r>
          </a:p>
          <a:p>
            <a:r>
              <a:rPr lang="es-CL" sz="3200" dirty="0">
                <a:solidFill>
                  <a:schemeClr val="bg1"/>
                </a:solidFill>
                <a:latin typeface="Abadi Extra Light" panose="020B0204020104020204" pitchFamily="34" charset="0"/>
              </a:rPr>
              <a:t>Semestre Otoño 2022 </a:t>
            </a:r>
          </a:p>
          <a:p>
            <a:endParaRPr lang="es-CL" sz="3200" dirty="0">
              <a:solidFill>
                <a:schemeClr val="bg1"/>
              </a:solidFill>
              <a:latin typeface="Abadi Extra Light" panose="020B0204020104020204" pitchFamily="34" charset="0"/>
            </a:endParaRPr>
          </a:p>
          <a:p>
            <a:r>
              <a:rPr lang="es-CL" sz="3200" dirty="0">
                <a:solidFill>
                  <a:schemeClr val="bg1"/>
                </a:solidFill>
                <a:latin typeface="Abadi Extra Light" panose="020B0204020104020204" pitchFamily="34" charset="0"/>
              </a:rPr>
              <a:t>Modulo 7</a:t>
            </a:r>
          </a:p>
        </p:txBody>
      </p:sp>
    </p:spTree>
    <p:extLst>
      <p:ext uri="{BB962C8B-B14F-4D97-AF65-F5344CB8AC3E}">
        <p14:creationId xmlns:p14="http://schemas.microsoft.com/office/powerpoint/2010/main" val="48814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F14150-9A4E-F589-7F17-5DDC1FD73E19}"/>
              </a:ext>
            </a:extLst>
          </p:cNvPr>
          <p:cNvSpPr>
            <a:spLocks noGrp="1"/>
          </p:cNvSpPr>
          <p:nvPr>
            <p:ph type="title"/>
          </p:nvPr>
        </p:nvSpPr>
        <p:spPr/>
        <p:txBody>
          <a:bodyPr/>
          <a:lstStyle/>
          <a:p>
            <a:r>
              <a:rPr lang="en-US" sz="3600" dirty="0">
                <a:solidFill>
                  <a:srgbClr val="00B0F0"/>
                </a:solidFill>
                <a:latin typeface="Abadi Extra Light" panose="020B0204020104020204" pitchFamily="34" charset="0"/>
              </a:rPr>
              <a:t>Redes</a:t>
            </a:r>
            <a:r>
              <a:rPr lang="en-US" dirty="0"/>
              <a:t> </a:t>
            </a:r>
            <a:r>
              <a:rPr lang="en-US" sz="3600" dirty="0">
                <a:solidFill>
                  <a:srgbClr val="00B0F0"/>
                </a:solidFill>
                <a:latin typeface="Abadi Extra Light" panose="020B0204020104020204" pitchFamily="34" charset="0"/>
              </a:rPr>
              <a:t>de Hopfield</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13F8ABCF-5AA4-9428-A881-A2F40A32DECA}"/>
              </a:ext>
            </a:extLst>
          </p:cNvPr>
          <p:cNvSpPr>
            <a:spLocks noGrp="1"/>
          </p:cNvSpPr>
          <p:nvPr>
            <p:ph idx="1"/>
          </p:nvPr>
        </p:nvSpPr>
        <p:spPr/>
        <p:txBody>
          <a:bodyPr vert="horz" lIns="91440" tIns="45720" rIns="91440" bIns="45720" rtlCol="0">
            <a:normAutofit/>
          </a:bodyPr>
          <a:lstStyle/>
          <a:p>
            <a:pPr marL="0" indent="0" algn="just">
              <a:buNone/>
            </a:pPr>
            <a:r>
              <a:rPr lang="es-ES" b="0" i="0" dirty="0">
                <a:solidFill>
                  <a:srgbClr val="2B2B2B"/>
                </a:solidFill>
                <a:effectLst/>
                <a:latin typeface="Abadi Extra Light" panose="020B0204020104020204" pitchFamily="34" charset="0"/>
              </a:rPr>
              <a:t>Una red </a:t>
            </a:r>
            <a:r>
              <a:rPr lang="es-ES" b="0" i="0" dirty="0" err="1">
                <a:solidFill>
                  <a:srgbClr val="2B2B2B"/>
                </a:solidFill>
                <a:effectLst/>
                <a:latin typeface="Abadi Extra Light" panose="020B0204020104020204" pitchFamily="34" charset="0"/>
              </a:rPr>
              <a:t>Hopfield</a:t>
            </a:r>
            <a:r>
              <a:rPr lang="es-ES" b="0" i="0" dirty="0">
                <a:solidFill>
                  <a:srgbClr val="2B2B2B"/>
                </a:solidFill>
                <a:effectLst/>
                <a:latin typeface="Abadi Extra Light" panose="020B0204020104020204" pitchFamily="34" charset="0"/>
              </a:rPr>
              <a:t> es un tipo de red neuronal artificial, conocido por ser el modelo de red que simula la capacidad del cerebro humano para recordar cosas o reconstruir imágenes distorsionadas. </a:t>
            </a:r>
          </a:p>
          <a:p>
            <a:pPr marL="0" indent="0" algn="just">
              <a:buNone/>
            </a:pPr>
            <a:endParaRPr lang="es-ES" dirty="0">
              <a:solidFill>
                <a:srgbClr val="2B2B2B"/>
              </a:solidFill>
              <a:latin typeface="Abadi Extra Light" panose="020B0204020104020204" pitchFamily="34" charset="0"/>
            </a:endParaRPr>
          </a:p>
          <a:p>
            <a:pPr marL="0" indent="0" algn="just">
              <a:buNone/>
            </a:pPr>
            <a:r>
              <a:rPr lang="es-ES" b="0" i="0" dirty="0">
                <a:solidFill>
                  <a:srgbClr val="2B2B2B"/>
                </a:solidFill>
                <a:effectLst/>
                <a:latin typeface="Abadi Extra Light" panose="020B0204020104020204" pitchFamily="34" charset="0"/>
              </a:rPr>
              <a:t>En el campo de las redes neuronales, este modelo se clasifica como aprendizaje no supervisado : la red aprende sin tener ejemplos, solo con el uso del concepto de "energía" . </a:t>
            </a:r>
            <a:endParaRPr lang="es-CL" dirty="0">
              <a:latin typeface="Abadi Extra Light" panose="020B0204020104020204" pitchFamily="34" charset="0"/>
            </a:endParaRPr>
          </a:p>
        </p:txBody>
      </p:sp>
    </p:spTree>
    <p:extLst>
      <p:ext uri="{BB962C8B-B14F-4D97-AF65-F5344CB8AC3E}">
        <p14:creationId xmlns:p14="http://schemas.microsoft.com/office/powerpoint/2010/main" val="3447559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12BE787-4227-93DD-D788-0EEBF29D4027}"/>
              </a:ext>
            </a:extLst>
          </p:cNvPr>
          <p:cNvSpPr>
            <a:spLocks noGrp="1"/>
          </p:cNvSpPr>
          <p:nvPr>
            <p:ph idx="1"/>
          </p:nvPr>
        </p:nvSpPr>
        <p:spPr/>
        <p:txBody>
          <a:bodyPr>
            <a:normAutofit/>
          </a:bodyPr>
          <a:lstStyle/>
          <a:p>
            <a:pPr marL="0" indent="0" algn="just">
              <a:buNone/>
            </a:pPr>
            <a:r>
              <a:rPr lang="es-ES" b="0" i="0" dirty="0">
                <a:solidFill>
                  <a:srgbClr val="2B2B2B"/>
                </a:solidFill>
                <a:effectLst/>
                <a:latin typeface="Abadi Extra Light" panose="020B0204020104020204" pitchFamily="34" charset="0"/>
              </a:rPr>
              <a:t>En 1982 el físico estadounidense John </a:t>
            </a:r>
            <a:r>
              <a:rPr lang="es-ES" b="0" i="0" dirty="0" err="1">
                <a:solidFill>
                  <a:srgbClr val="2B2B2B"/>
                </a:solidFill>
                <a:effectLst/>
                <a:latin typeface="Abadi Extra Light" panose="020B0204020104020204" pitchFamily="34" charset="0"/>
              </a:rPr>
              <a:t>Hopfield</a:t>
            </a:r>
            <a:r>
              <a:rPr lang="es-ES" b="0" i="0" dirty="0">
                <a:solidFill>
                  <a:srgbClr val="2B2B2B"/>
                </a:solidFill>
                <a:effectLst/>
                <a:latin typeface="Abadi Extra Light" panose="020B0204020104020204" pitchFamily="34" charset="0"/>
              </a:rPr>
              <a:t> publicó un artículo, fundamental presenta un modelo matemático comúnmente conocido como la red de </a:t>
            </a:r>
            <a:r>
              <a:rPr lang="es-ES" b="0" i="0" dirty="0" err="1">
                <a:solidFill>
                  <a:srgbClr val="2B2B2B"/>
                </a:solidFill>
                <a:effectLst/>
                <a:latin typeface="Abadi Extra Light" panose="020B0204020104020204" pitchFamily="34" charset="0"/>
              </a:rPr>
              <a:t>Hopfield</a:t>
            </a:r>
            <a:r>
              <a:rPr lang="es-ES" b="0" i="0" dirty="0">
                <a:solidFill>
                  <a:srgbClr val="2B2B2B"/>
                </a:solidFill>
                <a:effectLst/>
                <a:latin typeface="Abadi Extra Light" panose="020B0204020104020204" pitchFamily="34" charset="0"/>
              </a:rPr>
              <a:t> :</a:t>
            </a:r>
          </a:p>
          <a:p>
            <a:pPr marL="0" indent="0">
              <a:buNone/>
            </a:pPr>
            <a:r>
              <a:rPr lang="es-ES" b="0" i="0" dirty="0">
                <a:solidFill>
                  <a:srgbClr val="2B2B2B"/>
                </a:solidFill>
                <a:effectLst/>
                <a:latin typeface="Arial" panose="020B0604020202020204" pitchFamily="34" charset="0"/>
              </a:rPr>
              <a:t> </a:t>
            </a:r>
          </a:p>
          <a:p>
            <a:pPr marL="0" indent="0" algn="ctr">
              <a:buNone/>
            </a:pPr>
            <a:r>
              <a:rPr lang="es-ES" b="0" i="0" dirty="0">
                <a:solidFill>
                  <a:srgbClr val="2B2B2B"/>
                </a:solidFill>
                <a:effectLst/>
                <a:latin typeface="Arial" panose="020B0604020202020204" pitchFamily="34" charset="0"/>
              </a:rPr>
              <a:t>Esta red significa "la aparición de nuevas características computacionales espontáneas a partir del comportamiento colectivo de un gran número de elementos simples de proceso "</a:t>
            </a:r>
          </a:p>
          <a:p>
            <a:endParaRPr lang="es-ES" b="0" i="0" dirty="0">
              <a:solidFill>
                <a:srgbClr val="2B2B2B"/>
              </a:solidFill>
              <a:effectLst/>
              <a:latin typeface="Arial" panose="020B0604020202020204" pitchFamily="34" charset="0"/>
            </a:endParaRPr>
          </a:p>
        </p:txBody>
      </p:sp>
    </p:spTree>
    <p:extLst>
      <p:ext uri="{BB962C8B-B14F-4D97-AF65-F5344CB8AC3E}">
        <p14:creationId xmlns:p14="http://schemas.microsoft.com/office/powerpoint/2010/main" val="2314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5BA525-66A0-6681-CDF8-5150F64E54E6}"/>
              </a:ext>
            </a:extLst>
          </p:cNvPr>
          <p:cNvSpPr>
            <a:spLocks noGrp="1"/>
          </p:cNvSpPr>
          <p:nvPr>
            <p:ph type="title"/>
          </p:nvPr>
        </p:nvSpPr>
        <p:spPr/>
        <p:txBody>
          <a:bodyPr/>
          <a:lstStyle/>
          <a:p>
            <a:r>
              <a:rPr lang="en-US" sz="4400" dirty="0">
                <a:solidFill>
                  <a:srgbClr val="00B0F0"/>
                </a:solidFill>
                <a:latin typeface="Abadi Extra Light" panose="020B0204020104020204" pitchFamily="34" charset="0"/>
              </a:rPr>
              <a:t>Redes</a:t>
            </a:r>
            <a:r>
              <a:rPr lang="en-US" dirty="0"/>
              <a:t> </a:t>
            </a:r>
            <a:r>
              <a:rPr lang="en-US" sz="4400" dirty="0">
                <a:solidFill>
                  <a:srgbClr val="00B0F0"/>
                </a:solidFill>
                <a:latin typeface="Abadi Extra Light" panose="020B0204020104020204" pitchFamily="34" charset="0"/>
              </a:rPr>
              <a:t>de Hopfield</a:t>
            </a:r>
            <a:endParaRPr lang="es-CL" dirty="0"/>
          </a:p>
        </p:txBody>
      </p:sp>
      <p:sp>
        <p:nvSpPr>
          <p:cNvPr id="3" name="Marcador de contenido 2">
            <a:extLst>
              <a:ext uri="{FF2B5EF4-FFF2-40B4-BE49-F238E27FC236}">
                <a16:creationId xmlns:a16="http://schemas.microsoft.com/office/drawing/2014/main" id="{87304FEB-7097-9DED-C8E1-C2CAA31CEC86}"/>
              </a:ext>
            </a:extLst>
          </p:cNvPr>
          <p:cNvSpPr>
            <a:spLocks noGrp="1"/>
          </p:cNvSpPr>
          <p:nvPr>
            <p:ph idx="1"/>
          </p:nvPr>
        </p:nvSpPr>
        <p:spPr/>
        <p:txBody>
          <a:bodyPr vert="horz" lIns="91440" tIns="45720" rIns="91440" bIns="45720" rtlCol="0">
            <a:normAutofit lnSpcReduction="10000"/>
          </a:bodyPr>
          <a:lstStyle/>
          <a:p>
            <a:pPr marL="0" indent="0" algn="just">
              <a:buNone/>
            </a:pPr>
            <a:r>
              <a:rPr lang="es-ES" dirty="0">
                <a:solidFill>
                  <a:srgbClr val="2B2B2B"/>
                </a:solidFill>
                <a:latin typeface="Abadi Extra Light" panose="020B0204020104020204" pitchFamily="34" charset="0"/>
              </a:rPr>
              <a:t>A cada estado de la red se le puede atribuir una cierta cantidad de energía, el sistema evoluciona tratando de disminuir la energía mediante un proceso de relajación (recordemos el símil con una pelota cayendo por una superficie multidimensional), hasta alcanzar un mínimo (valle) donde se estabiliza. Los mínimos de energía se corresponden con los recuerdos almacenados durante el aprendizaje de la red.</a:t>
            </a:r>
          </a:p>
          <a:p>
            <a:pPr marL="0" indent="0" algn="just">
              <a:buNone/>
            </a:pPr>
            <a:endParaRPr lang="es-ES" dirty="0">
              <a:solidFill>
                <a:srgbClr val="2B2B2B"/>
              </a:solidFill>
              <a:latin typeface="Abadi Extra Light" panose="020B0204020104020204" pitchFamily="34" charset="0"/>
            </a:endParaRPr>
          </a:p>
          <a:p>
            <a:pPr marL="0" indent="0" algn="just">
              <a:buNone/>
            </a:pPr>
            <a:r>
              <a:rPr lang="es-ES" dirty="0">
                <a:solidFill>
                  <a:srgbClr val="2B2B2B"/>
                </a:solidFill>
                <a:latin typeface="Abadi Extra Light" panose="020B0204020104020204" pitchFamily="34" charset="0"/>
              </a:rPr>
              <a:t>Ante la presentación de un estímulo nuevo se obtendrá una configuración inicial más o menos parecida a alguno de los estímulos almacenados, el sistema evolucionará hasta caer en una configuración estable que representa el recuerdo asociado a ese estímulo.</a:t>
            </a:r>
          </a:p>
          <a:p>
            <a:pPr marL="0" indent="0" algn="just">
              <a:buNone/>
            </a:pPr>
            <a:endParaRPr lang="es-ES" dirty="0">
              <a:solidFill>
                <a:srgbClr val="2B2B2B"/>
              </a:solidFill>
              <a:latin typeface="Abadi Extra Light" panose="020B0204020104020204" pitchFamily="34" charset="0"/>
            </a:endParaRPr>
          </a:p>
          <a:p>
            <a:pPr marL="0" indent="0" algn="just">
              <a:buNone/>
            </a:pPr>
            <a:endParaRPr lang="es-CL" dirty="0">
              <a:solidFill>
                <a:srgbClr val="2B2B2B"/>
              </a:solidFill>
              <a:latin typeface="Abadi Extra Light" panose="020B0204020104020204" pitchFamily="34" charset="0"/>
            </a:endParaRPr>
          </a:p>
        </p:txBody>
      </p:sp>
    </p:spTree>
    <p:extLst>
      <p:ext uri="{BB962C8B-B14F-4D97-AF65-F5344CB8AC3E}">
        <p14:creationId xmlns:p14="http://schemas.microsoft.com/office/powerpoint/2010/main" val="82389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EFFBF7-538C-CC87-B3F9-7F75A7FF0A3F}"/>
              </a:ext>
            </a:extLst>
          </p:cNvPr>
          <p:cNvSpPr>
            <a:spLocks noGrp="1"/>
          </p:cNvSpPr>
          <p:nvPr>
            <p:ph type="title"/>
          </p:nvPr>
        </p:nvSpPr>
        <p:spPr/>
        <p:txBody>
          <a:bodyPr/>
          <a:lstStyle/>
          <a:p>
            <a:r>
              <a:rPr lang="en-US" sz="4400" dirty="0">
                <a:solidFill>
                  <a:srgbClr val="00B0F0"/>
                </a:solidFill>
                <a:latin typeface="Abadi Extra Light" panose="020B0204020104020204" pitchFamily="34" charset="0"/>
              </a:rPr>
              <a:t>Redes</a:t>
            </a:r>
            <a:r>
              <a:rPr lang="en-US" dirty="0"/>
              <a:t> </a:t>
            </a:r>
            <a:r>
              <a:rPr lang="en-US" sz="4400" dirty="0">
                <a:solidFill>
                  <a:srgbClr val="00B0F0"/>
                </a:solidFill>
                <a:latin typeface="Abadi Extra Light" panose="020B0204020104020204" pitchFamily="34" charset="0"/>
              </a:rPr>
              <a:t>de Hopfield</a:t>
            </a:r>
            <a:endParaRPr lang="es-CL" dirty="0"/>
          </a:p>
        </p:txBody>
      </p:sp>
      <p:sp>
        <p:nvSpPr>
          <p:cNvPr id="3" name="Marcador de contenido 2">
            <a:extLst>
              <a:ext uri="{FF2B5EF4-FFF2-40B4-BE49-F238E27FC236}">
                <a16:creationId xmlns:a16="http://schemas.microsoft.com/office/drawing/2014/main" id="{233BF304-BCBF-559D-D833-C6A31DD32BE0}"/>
              </a:ext>
            </a:extLst>
          </p:cNvPr>
          <p:cNvSpPr>
            <a:spLocks noGrp="1"/>
          </p:cNvSpPr>
          <p:nvPr>
            <p:ph idx="1"/>
          </p:nvPr>
        </p:nvSpPr>
        <p:spPr/>
        <p:txBody>
          <a:bodyPr>
            <a:normAutofit/>
          </a:bodyPr>
          <a:lstStyle/>
          <a:p>
            <a:r>
              <a:rPr lang="es-ES" dirty="0">
                <a:solidFill>
                  <a:srgbClr val="2B2B2B"/>
                </a:solidFill>
                <a:latin typeface="Abadi Extra Light" panose="020B0204020104020204" pitchFamily="34" charset="0"/>
              </a:rPr>
              <a:t> Si la configuración inicial discrepa mucho de los recuerdos almacenados podemos alcanzar algún mínimo que no se corresponde a ningún recuerdo almacenado, recuperando en ese caso una información espuria, o podríamos no alcanzar ningún mínimo, quedando inestable: </a:t>
            </a:r>
          </a:p>
          <a:p>
            <a:endParaRPr lang="es-ES" dirty="0">
              <a:solidFill>
                <a:srgbClr val="2B2B2B"/>
              </a:solidFill>
              <a:latin typeface="Abadi Extra Light" panose="020B0204020104020204" pitchFamily="34" charset="0"/>
            </a:endParaRPr>
          </a:p>
          <a:p>
            <a:pPr marL="0" indent="0">
              <a:buNone/>
            </a:pPr>
            <a:r>
              <a:rPr lang="es-ES" dirty="0">
                <a:solidFill>
                  <a:srgbClr val="2B2B2B"/>
                </a:solidFill>
                <a:latin typeface="Abadi Extra Light" panose="020B0204020104020204" pitchFamily="34" charset="0"/>
              </a:rPr>
              <a:t>En ese caso diríamos que la red está "confundida", no es capaz de reconocer el estímulo, no recuerda. </a:t>
            </a:r>
            <a:endParaRPr lang="es-CL" dirty="0"/>
          </a:p>
        </p:txBody>
      </p:sp>
    </p:spTree>
    <p:extLst>
      <p:ext uri="{BB962C8B-B14F-4D97-AF65-F5344CB8AC3E}">
        <p14:creationId xmlns:p14="http://schemas.microsoft.com/office/powerpoint/2010/main" val="3048330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DAB20D-7E76-F360-3273-20B919EADEFD}"/>
              </a:ext>
            </a:extLst>
          </p:cNvPr>
          <p:cNvSpPr>
            <a:spLocks noGrp="1"/>
          </p:cNvSpPr>
          <p:nvPr>
            <p:ph type="title"/>
          </p:nvPr>
        </p:nvSpPr>
        <p:spPr/>
        <p:txBody>
          <a:bodyPr/>
          <a:lstStyle/>
          <a:p>
            <a:r>
              <a:rPr lang="en-US" sz="4400" dirty="0">
                <a:solidFill>
                  <a:srgbClr val="00B0F0"/>
                </a:solidFill>
                <a:latin typeface="Abadi Extra Light" panose="020B0204020104020204" pitchFamily="34" charset="0"/>
              </a:rPr>
              <a:t>Redes</a:t>
            </a:r>
            <a:r>
              <a:rPr lang="en-US" dirty="0"/>
              <a:t> </a:t>
            </a:r>
            <a:r>
              <a:rPr lang="en-US" sz="4400" dirty="0">
                <a:solidFill>
                  <a:srgbClr val="00B0F0"/>
                </a:solidFill>
                <a:latin typeface="Abadi Extra Light" panose="020B0204020104020204" pitchFamily="34" charset="0"/>
              </a:rPr>
              <a:t>de Hopfield</a:t>
            </a:r>
            <a:endParaRPr lang="es-CL" dirty="0"/>
          </a:p>
        </p:txBody>
      </p:sp>
      <p:sp>
        <p:nvSpPr>
          <p:cNvPr id="3" name="Marcador de contenido 2">
            <a:extLst>
              <a:ext uri="{FF2B5EF4-FFF2-40B4-BE49-F238E27FC236}">
                <a16:creationId xmlns:a16="http://schemas.microsoft.com/office/drawing/2014/main" id="{7673AED9-25AB-4F77-62BB-A6CFC2CAB846}"/>
              </a:ext>
            </a:extLst>
          </p:cNvPr>
          <p:cNvSpPr>
            <a:spLocks noGrp="1"/>
          </p:cNvSpPr>
          <p:nvPr>
            <p:ph idx="1"/>
          </p:nvPr>
        </p:nvSpPr>
        <p:spPr/>
        <p:txBody>
          <a:bodyPr vert="horz" lIns="91440" tIns="45720" rIns="91440" bIns="45720" rtlCol="0">
            <a:normAutofit/>
          </a:bodyPr>
          <a:lstStyle/>
          <a:p>
            <a:pPr marL="0" indent="0" algn="just">
              <a:buNone/>
            </a:pPr>
            <a:r>
              <a:rPr lang="es-ES" dirty="0">
                <a:solidFill>
                  <a:srgbClr val="2B2B2B"/>
                </a:solidFill>
                <a:latin typeface="Abadi Extra Light" panose="020B0204020104020204" pitchFamily="34" charset="0"/>
              </a:rPr>
              <a:t>Es una red Monocapa, con N neuronas, la que tiene por salida 0 o 1. Vimos anteriormente que en ésta red existe la retroalimentación, sin embargo la salida de una neurona no es entrada de la misma.</a:t>
            </a:r>
            <a:br>
              <a:rPr lang="es-ES" dirty="0">
                <a:solidFill>
                  <a:srgbClr val="2B2B2B"/>
                </a:solidFill>
                <a:latin typeface="Abadi Extra Light" panose="020B0204020104020204" pitchFamily="34" charset="0"/>
              </a:rPr>
            </a:br>
            <a:r>
              <a:rPr lang="es-ES" dirty="0">
                <a:solidFill>
                  <a:srgbClr val="2B2B2B"/>
                </a:solidFill>
                <a:latin typeface="Abadi Extra Light" panose="020B0204020104020204" pitchFamily="34" charset="0"/>
              </a:rPr>
              <a:t>Existe igualdad en los pesos, son simétricos (</a:t>
            </a:r>
            <a:r>
              <a:rPr lang="es-ES" dirty="0" err="1">
                <a:solidFill>
                  <a:srgbClr val="2B2B2B"/>
                </a:solidFill>
                <a:latin typeface="Abadi Extra Light" panose="020B0204020104020204" pitchFamily="34" charset="0"/>
              </a:rPr>
              <a:t>wij</a:t>
            </a:r>
            <a:r>
              <a:rPr lang="es-ES" dirty="0">
                <a:solidFill>
                  <a:srgbClr val="2B2B2B"/>
                </a:solidFill>
                <a:latin typeface="Abadi Extra Light" panose="020B0204020104020204" pitchFamily="34" charset="0"/>
              </a:rPr>
              <a:t>=</a:t>
            </a:r>
            <a:r>
              <a:rPr lang="es-ES" dirty="0" err="1">
                <a:solidFill>
                  <a:srgbClr val="2B2B2B"/>
                </a:solidFill>
                <a:latin typeface="Abadi Extra Light" panose="020B0204020104020204" pitchFamily="34" charset="0"/>
              </a:rPr>
              <a:t>wji</a:t>
            </a:r>
            <a:r>
              <a:rPr lang="es-ES" dirty="0">
                <a:solidFill>
                  <a:srgbClr val="2B2B2B"/>
                </a:solidFill>
                <a:latin typeface="Abadi Extra Light" panose="020B0204020104020204" pitchFamily="34" charset="0"/>
              </a:rPr>
              <a:t>).</a:t>
            </a:r>
            <a:endParaRPr lang="es-CL" dirty="0">
              <a:solidFill>
                <a:srgbClr val="2B2B2B"/>
              </a:solidFill>
              <a:latin typeface="Abadi Extra Light" panose="020B0204020104020204" pitchFamily="34" charset="0"/>
            </a:endParaRPr>
          </a:p>
        </p:txBody>
      </p:sp>
      <p:pic>
        <p:nvPicPr>
          <p:cNvPr id="8194" name="Picture 2">
            <a:extLst>
              <a:ext uri="{FF2B5EF4-FFF2-40B4-BE49-F238E27FC236}">
                <a16:creationId xmlns:a16="http://schemas.microsoft.com/office/drawing/2014/main" id="{83139718-757A-83D4-75F1-CB4B0A2744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2426" y="4321175"/>
            <a:ext cx="3810000" cy="21717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6F33F5-3197-1A8C-9621-DAD64715E3E4}"/>
              </a:ext>
            </a:extLst>
          </p:cNvPr>
          <p:cNvSpPr txBox="1"/>
          <p:nvPr/>
        </p:nvSpPr>
        <p:spPr>
          <a:xfrm>
            <a:off x="2613052" y="4618110"/>
            <a:ext cx="6096000" cy="923330"/>
          </a:xfrm>
          <a:prstGeom prst="rect">
            <a:avLst/>
          </a:prstGeom>
          <a:noFill/>
        </p:spPr>
        <p:txBody>
          <a:bodyPr wrap="square">
            <a:spAutoFit/>
          </a:bodyPr>
          <a:lstStyle/>
          <a:p>
            <a:pPr algn="l">
              <a:buFont typeface="Arial" panose="020B0604020202020204" pitchFamily="34" charset="0"/>
              <a:buChar char="•"/>
            </a:pPr>
            <a:r>
              <a:rPr lang="pl-PL" b="0" i="0" dirty="0">
                <a:solidFill>
                  <a:srgbClr val="757575"/>
                </a:solidFill>
                <a:effectLst/>
                <a:latin typeface="Roboto" panose="02000000000000000000" pitchFamily="2" charset="0"/>
              </a:rPr>
              <a:t>w12 = w21</a:t>
            </a:r>
          </a:p>
          <a:p>
            <a:pPr algn="l">
              <a:buFont typeface="Arial" panose="020B0604020202020204" pitchFamily="34" charset="0"/>
              <a:buChar char="•"/>
            </a:pPr>
            <a:r>
              <a:rPr lang="pl-PL" b="0" i="0" dirty="0">
                <a:solidFill>
                  <a:srgbClr val="757575"/>
                </a:solidFill>
                <a:effectLst/>
                <a:latin typeface="Roboto" panose="02000000000000000000" pitchFamily="2" charset="0"/>
              </a:rPr>
              <a:t>w13 = w31</a:t>
            </a:r>
          </a:p>
          <a:p>
            <a:pPr algn="l">
              <a:buFont typeface="Arial" panose="020B0604020202020204" pitchFamily="34" charset="0"/>
              <a:buChar char="•"/>
            </a:pPr>
            <a:r>
              <a:rPr lang="pl-PL" b="0" i="0" dirty="0">
                <a:solidFill>
                  <a:srgbClr val="757575"/>
                </a:solidFill>
                <a:effectLst/>
                <a:latin typeface="Roboto" panose="02000000000000000000" pitchFamily="2" charset="0"/>
              </a:rPr>
              <a:t>w32 = w23</a:t>
            </a:r>
          </a:p>
        </p:txBody>
      </p:sp>
    </p:spTree>
    <p:extLst>
      <p:ext uri="{BB962C8B-B14F-4D97-AF65-F5344CB8AC3E}">
        <p14:creationId xmlns:p14="http://schemas.microsoft.com/office/powerpoint/2010/main" val="2699638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1455CE50-2265-51C5-0A4D-89181F0F3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6564" y="628650"/>
            <a:ext cx="7362825" cy="280035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AAC6498-762F-E715-942D-CD69C5AEC9B5}"/>
              </a:ext>
            </a:extLst>
          </p:cNvPr>
          <p:cNvSpPr txBox="1"/>
          <p:nvPr/>
        </p:nvSpPr>
        <p:spPr>
          <a:xfrm>
            <a:off x="846965" y="4333955"/>
            <a:ext cx="7067045" cy="923330"/>
          </a:xfrm>
          <a:prstGeom prst="rect">
            <a:avLst/>
          </a:prstGeom>
          <a:noFill/>
        </p:spPr>
        <p:txBody>
          <a:bodyPr wrap="square">
            <a:spAutoFit/>
          </a:bodyPr>
          <a:lstStyle/>
          <a:p>
            <a:r>
              <a:rPr lang="es-ES" b="0" i="0" dirty="0">
                <a:solidFill>
                  <a:srgbClr val="757575"/>
                </a:solidFill>
                <a:effectLst/>
                <a:latin typeface="arial" panose="020B0604020202020204" pitchFamily="34" charset="0"/>
              </a:rPr>
              <a:t>n: número de nodos en la red.</a:t>
            </a:r>
            <a:br>
              <a:rPr lang="es-ES" dirty="0"/>
            </a:br>
            <a:r>
              <a:rPr lang="es-ES" b="0" i="0" dirty="0">
                <a:solidFill>
                  <a:srgbClr val="757575"/>
                </a:solidFill>
                <a:effectLst/>
                <a:latin typeface="arial" panose="020B0604020202020204" pitchFamily="34" charset="0"/>
              </a:rPr>
              <a:t>Xi: Entradas de la red (todas se ejecutan al mismo tiempo, </a:t>
            </a:r>
            <a:r>
              <a:rPr lang="es-ES" b="1" i="1" dirty="0">
                <a:solidFill>
                  <a:srgbClr val="757575"/>
                </a:solidFill>
                <a:effectLst/>
                <a:latin typeface="arial" panose="020B0604020202020204" pitchFamily="34" charset="0"/>
              </a:rPr>
              <a:t>t = 0</a:t>
            </a:r>
            <a:r>
              <a:rPr lang="es-ES" b="0" i="0" dirty="0">
                <a:solidFill>
                  <a:srgbClr val="757575"/>
                </a:solidFill>
                <a:effectLst/>
                <a:latin typeface="arial" panose="020B0604020202020204" pitchFamily="34" charset="0"/>
              </a:rPr>
              <a:t>).</a:t>
            </a:r>
            <a:br>
              <a:rPr lang="es-ES" dirty="0"/>
            </a:br>
            <a:r>
              <a:rPr lang="es-ES" b="0" i="0" dirty="0" err="1">
                <a:solidFill>
                  <a:srgbClr val="757575"/>
                </a:solidFill>
                <a:effectLst/>
                <a:latin typeface="arial" panose="020B0604020202020204" pitchFamily="34" charset="0"/>
              </a:rPr>
              <a:t>Ui</a:t>
            </a:r>
            <a:r>
              <a:rPr lang="es-ES" b="0" i="0" dirty="0">
                <a:solidFill>
                  <a:srgbClr val="757575"/>
                </a:solidFill>
                <a:effectLst/>
                <a:latin typeface="arial" panose="020B0604020202020204" pitchFamily="34" charset="0"/>
              </a:rPr>
              <a:t>: Salidas que se recalculan hasta estabilizarse.</a:t>
            </a:r>
            <a:endParaRPr lang="es-CL" dirty="0"/>
          </a:p>
        </p:txBody>
      </p:sp>
    </p:spTree>
    <p:extLst>
      <p:ext uri="{BB962C8B-B14F-4D97-AF65-F5344CB8AC3E}">
        <p14:creationId xmlns:p14="http://schemas.microsoft.com/office/powerpoint/2010/main" val="127318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23A547C-7648-D7C7-57E4-552F4B47B096}"/>
              </a:ext>
            </a:extLst>
          </p:cNvPr>
          <p:cNvPicPr>
            <a:picLocks noChangeAspect="1"/>
          </p:cNvPicPr>
          <p:nvPr/>
        </p:nvPicPr>
        <p:blipFill>
          <a:blip r:embed="rId2"/>
          <a:stretch>
            <a:fillRect/>
          </a:stretch>
        </p:blipFill>
        <p:spPr>
          <a:xfrm>
            <a:off x="1059972" y="592235"/>
            <a:ext cx="10072055" cy="5927573"/>
          </a:xfrm>
          <a:prstGeom prst="rect">
            <a:avLst/>
          </a:prstGeom>
        </p:spPr>
      </p:pic>
    </p:spTree>
    <p:extLst>
      <p:ext uri="{BB962C8B-B14F-4D97-AF65-F5344CB8AC3E}">
        <p14:creationId xmlns:p14="http://schemas.microsoft.com/office/powerpoint/2010/main" val="3690349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E923AC3-B59A-6348-FA33-C4AC5974F524}"/>
              </a:ext>
            </a:extLst>
          </p:cNvPr>
          <p:cNvSpPr txBox="1"/>
          <p:nvPr/>
        </p:nvSpPr>
        <p:spPr>
          <a:xfrm>
            <a:off x="570489" y="1325741"/>
            <a:ext cx="4468826" cy="2585323"/>
          </a:xfrm>
          <a:prstGeom prst="rect">
            <a:avLst/>
          </a:prstGeom>
          <a:noFill/>
        </p:spPr>
        <p:txBody>
          <a:bodyPr wrap="square">
            <a:spAutoFit/>
          </a:bodyPr>
          <a:lstStyle/>
          <a:p>
            <a:pPr algn="l"/>
            <a:r>
              <a:rPr lang="es-ES" b="1" i="0" dirty="0">
                <a:solidFill>
                  <a:srgbClr val="757575"/>
                </a:solidFill>
                <a:effectLst/>
                <a:latin typeface="Roboto" panose="02000000000000000000" pitchFamily="2" charset="0"/>
              </a:rPr>
              <a:t>VENTAJAS DE LA RNA DE HOPFIELD</a:t>
            </a:r>
          </a:p>
          <a:p>
            <a:pPr algn="l"/>
            <a:endParaRPr lang="es-ES" b="1" i="0" dirty="0">
              <a:solidFill>
                <a:srgbClr val="757575"/>
              </a:solidFill>
              <a:effectLst/>
              <a:latin typeface="Roboto" panose="02000000000000000000" pitchFamily="2" charset="0"/>
            </a:endParaRPr>
          </a:p>
          <a:p>
            <a:pPr marL="285750" indent="-285750" algn="l">
              <a:buFont typeface="Arial" panose="020B0604020202020204" pitchFamily="34" charset="0"/>
              <a:buChar char="•"/>
            </a:pPr>
            <a:r>
              <a:rPr lang="es-ES" b="0" i="0" dirty="0">
                <a:solidFill>
                  <a:srgbClr val="757575"/>
                </a:solidFill>
                <a:effectLst/>
                <a:latin typeface="Roboto" panose="02000000000000000000" pitchFamily="2" charset="0"/>
              </a:rPr>
              <a:t>El tiempo de entrenamiento es muy corto.</a:t>
            </a:r>
          </a:p>
          <a:p>
            <a:pPr marL="285750" indent="-285750" algn="l">
              <a:buFont typeface="Arial" panose="020B0604020202020204" pitchFamily="34" charset="0"/>
              <a:buChar char="•"/>
            </a:pPr>
            <a:endParaRPr lang="es-ES" b="0" i="0" dirty="0">
              <a:solidFill>
                <a:srgbClr val="757575"/>
              </a:solidFill>
              <a:effectLst/>
              <a:latin typeface="Roboto" panose="02000000000000000000" pitchFamily="2" charset="0"/>
            </a:endParaRPr>
          </a:p>
          <a:p>
            <a:pPr marL="285750" indent="-285750" algn="l">
              <a:buFont typeface="Arial" panose="020B0604020202020204" pitchFamily="34" charset="0"/>
              <a:buChar char="•"/>
            </a:pPr>
            <a:r>
              <a:rPr lang="es-ES" b="0" i="0" dirty="0">
                <a:solidFill>
                  <a:srgbClr val="757575"/>
                </a:solidFill>
                <a:effectLst/>
                <a:latin typeface="Roboto" panose="02000000000000000000" pitchFamily="2" charset="0"/>
              </a:rPr>
              <a:t>Son bastante tolerantes al ruido.</a:t>
            </a:r>
          </a:p>
          <a:p>
            <a:pPr marL="285750" indent="-285750" algn="l">
              <a:buFont typeface="Arial" panose="020B0604020202020204" pitchFamily="34" charset="0"/>
              <a:buChar char="•"/>
            </a:pPr>
            <a:endParaRPr lang="es-ES" b="0" i="0" dirty="0">
              <a:solidFill>
                <a:srgbClr val="757575"/>
              </a:solidFill>
              <a:effectLst/>
              <a:latin typeface="Roboto" panose="02000000000000000000" pitchFamily="2" charset="0"/>
            </a:endParaRPr>
          </a:p>
          <a:p>
            <a:pPr marL="285750" indent="-285750" algn="l">
              <a:buFont typeface="Arial" panose="020B0604020202020204" pitchFamily="34" charset="0"/>
              <a:buChar char="•"/>
            </a:pPr>
            <a:r>
              <a:rPr lang="es-ES" b="0" i="0" dirty="0">
                <a:solidFill>
                  <a:srgbClr val="757575"/>
                </a:solidFill>
                <a:effectLst/>
                <a:latin typeface="Roboto" panose="02000000000000000000" pitchFamily="2" charset="0"/>
              </a:rPr>
              <a:t>Permite un funcionamiento síncrono como asíncrono.</a:t>
            </a:r>
          </a:p>
        </p:txBody>
      </p:sp>
      <p:sp>
        <p:nvSpPr>
          <p:cNvPr id="7" name="CuadroTexto 6">
            <a:extLst>
              <a:ext uri="{FF2B5EF4-FFF2-40B4-BE49-F238E27FC236}">
                <a16:creationId xmlns:a16="http://schemas.microsoft.com/office/drawing/2014/main" id="{4365DC2F-5FAB-7EA8-0F40-AF5311EDA12A}"/>
              </a:ext>
            </a:extLst>
          </p:cNvPr>
          <p:cNvSpPr txBox="1"/>
          <p:nvPr/>
        </p:nvSpPr>
        <p:spPr>
          <a:xfrm>
            <a:off x="5785805" y="1325741"/>
            <a:ext cx="5528882" cy="2862322"/>
          </a:xfrm>
          <a:prstGeom prst="rect">
            <a:avLst/>
          </a:prstGeom>
          <a:noFill/>
        </p:spPr>
        <p:txBody>
          <a:bodyPr wrap="square">
            <a:spAutoFit/>
          </a:bodyPr>
          <a:lstStyle/>
          <a:p>
            <a:pPr algn="l"/>
            <a:r>
              <a:rPr lang="es-ES" b="1" i="0" dirty="0">
                <a:solidFill>
                  <a:srgbClr val="757575"/>
                </a:solidFill>
                <a:effectLst/>
                <a:latin typeface="Roboto" panose="02000000000000000000" pitchFamily="2" charset="0"/>
              </a:rPr>
              <a:t>DESVENTAJAS DE LA RNA DE HOPFIELD</a:t>
            </a:r>
          </a:p>
          <a:p>
            <a:pPr algn="l"/>
            <a:endParaRPr lang="es-ES" b="1" dirty="0">
              <a:solidFill>
                <a:srgbClr val="757575"/>
              </a:solidFill>
              <a:latin typeface="Roboto" panose="02000000000000000000" pitchFamily="2" charset="0"/>
            </a:endParaRPr>
          </a:p>
          <a:p>
            <a:pPr algn="l"/>
            <a:endParaRPr lang="es-ES" b="1" i="0" dirty="0">
              <a:solidFill>
                <a:srgbClr val="757575"/>
              </a:solidFill>
              <a:effectLst/>
              <a:latin typeface="Roboto" panose="02000000000000000000" pitchFamily="2" charset="0"/>
            </a:endParaRPr>
          </a:p>
          <a:p>
            <a:pPr marL="285750" indent="-285750" algn="l">
              <a:buFont typeface="Arial" panose="020B0604020202020204" pitchFamily="34" charset="0"/>
              <a:buChar char="•"/>
            </a:pPr>
            <a:r>
              <a:rPr lang="es-ES" b="0" i="0" dirty="0">
                <a:solidFill>
                  <a:srgbClr val="757575"/>
                </a:solidFill>
                <a:effectLst/>
                <a:latin typeface="Roboto" panose="02000000000000000000" pitchFamily="2" charset="0"/>
              </a:rPr>
              <a:t>Es limitado el número de patrones a aprender (según </a:t>
            </a:r>
            <a:r>
              <a:rPr lang="es-ES" b="0" i="0" dirty="0" err="1">
                <a:solidFill>
                  <a:srgbClr val="757575"/>
                </a:solidFill>
                <a:effectLst/>
                <a:latin typeface="Roboto" panose="02000000000000000000" pitchFamily="2" charset="0"/>
              </a:rPr>
              <a:t>Hopfield</a:t>
            </a:r>
            <a:r>
              <a:rPr lang="es-ES" b="0" i="0" dirty="0">
                <a:solidFill>
                  <a:srgbClr val="757575"/>
                </a:solidFill>
                <a:effectLst/>
                <a:latin typeface="Roboto" panose="02000000000000000000" pitchFamily="2" charset="0"/>
              </a:rPr>
              <a:t>, el número de clases a aprender no puede ser mayor de  0.15 veces el número de nodos en la red).</a:t>
            </a:r>
          </a:p>
          <a:p>
            <a:pPr marL="285750" indent="-285750" algn="l">
              <a:buFont typeface="Arial" panose="020B0604020202020204" pitchFamily="34" charset="0"/>
              <a:buChar char="•"/>
            </a:pPr>
            <a:endParaRPr lang="es-ES" b="0" i="0" dirty="0">
              <a:solidFill>
                <a:srgbClr val="757575"/>
              </a:solidFill>
              <a:effectLst/>
              <a:latin typeface="Roboto" panose="02000000000000000000" pitchFamily="2" charset="0"/>
            </a:endParaRPr>
          </a:p>
          <a:p>
            <a:pPr marL="285750" indent="-285750" algn="l">
              <a:buFont typeface="Arial" panose="020B0604020202020204" pitchFamily="34" charset="0"/>
              <a:buChar char="•"/>
            </a:pPr>
            <a:r>
              <a:rPr lang="es-ES" b="0" i="0" dirty="0">
                <a:solidFill>
                  <a:srgbClr val="757575"/>
                </a:solidFill>
                <a:effectLst/>
                <a:latin typeface="Roboto" panose="02000000000000000000" pitchFamily="2" charset="0"/>
              </a:rPr>
              <a:t>Si existen patrones que se parecen entre si, la red se vuelve inestable</a:t>
            </a:r>
          </a:p>
        </p:txBody>
      </p:sp>
    </p:spTree>
    <p:extLst>
      <p:ext uri="{BB962C8B-B14F-4D97-AF65-F5344CB8AC3E}">
        <p14:creationId xmlns:p14="http://schemas.microsoft.com/office/powerpoint/2010/main" val="411743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F14150-9A4E-F589-7F17-5DDC1FD73E19}"/>
              </a:ext>
            </a:extLst>
          </p:cNvPr>
          <p:cNvSpPr>
            <a:spLocks noGrp="1"/>
          </p:cNvSpPr>
          <p:nvPr>
            <p:ph type="title"/>
          </p:nvPr>
        </p:nvSpPr>
        <p:spPr/>
        <p:txBody>
          <a:bodyPr/>
          <a:lstStyle/>
          <a:p>
            <a:r>
              <a:rPr lang="en-US" sz="3600" dirty="0">
                <a:solidFill>
                  <a:srgbClr val="00B0F0"/>
                </a:solidFill>
                <a:latin typeface="Abadi Extra Light" panose="020B0204020104020204" pitchFamily="34" charset="0"/>
              </a:rPr>
              <a:t>Redes</a:t>
            </a:r>
            <a:r>
              <a:rPr lang="en-US" dirty="0"/>
              <a:t> </a:t>
            </a:r>
            <a:r>
              <a:rPr lang="en-US" sz="3600" dirty="0" err="1">
                <a:solidFill>
                  <a:srgbClr val="00B0F0"/>
                </a:solidFill>
                <a:latin typeface="Abadi Extra Light" panose="020B0204020104020204" pitchFamily="34" charset="0"/>
              </a:rPr>
              <a:t>Recurrentes</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13F8ABCF-5AA4-9428-A881-A2F40A32DECA}"/>
              </a:ext>
            </a:extLst>
          </p:cNvPr>
          <p:cNvSpPr>
            <a:spLocks noGrp="1"/>
          </p:cNvSpPr>
          <p:nvPr>
            <p:ph idx="1"/>
          </p:nvPr>
        </p:nvSpPr>
        <p:spPr/>
        <p:txBody>
          <a:bodyPr vert="horz" lIns="91440" tIns="45720" rIns="91440" bIns="45720" rtlCol="0">
            <a:normAutofit/>
          </a:bodyPr>
          <a:lstStyle/>
          <a:p>
            <a:pPr marL="0" indent="0" algn="just">
              <a:buNone/>
            </a:pPr>
            <a:r>
              <a:rPr lang="es-ES" dirty="0">
                <a:latin typeface="Abadi Extra Light" panose="020B0204020104020204" pitchFamily="34" charset="0"/>
              </a:rPr>
              <a:t>Las redes neuronales recurrentes o </a:t>
            </a:r>
            <a:r>
              <a:rPr lang="es-ES" dirty="0" err="1">
                <a:latin typeface="Abadi Extra Light" panose="020B0204020104020204" pitchFamily="34" charset="0"/>
              </a:rPr>
              <a:t>recurrent</a:t>
            </a:r>
            <a:r>
              <a:rPr lang="es-ES" dirty="0">
                <a:latin typeface="Abadi Extra Light" panose="020B0204020104020204" pitchFamily="34" charset="0"/>
              </a:rPr>
              <a:t> neural </a:t>
            </a:r>
            <a:r>
              <a:rPr lang="es-ES" dirty="0" err="1">
                <a:latin typeface="Abadi Extra Light" panose="020B0204020104020204" pitchFamily="34" charset="0"/>
              </a:rPr>
              <a:t>networks</a:t>
            </a:r>
            <a:r>
              <a:rPr lang="es-ES" dirty="0">
                <a:latin typeface="Abadi Extra Light" panose="020B0204020104020204" pitchFamily="34" charset="0"/>
              </a:rPr>
              <a:t> (RNN) es un tipo de red neuronal artificial especializada en procesar datos secuenciales o series temporales cuya arquitectura permite que la red obtenga memoria artificial.</a:t>
            </a:r>
          </a:p>
          <a:p>
            <a:pPr marL="0" indent="0" algn="just">
              <a:buNone/>
            </a:pPr>
            <a:endParaRPr lang="es-ES" dirty="0">
              <a:latin typeface="Abadi Extra Light" panose="020B0204020104020204" pitchFamily="34" charset="0"/>
            </a:endParaRPr>
          </a:p>
          <a:p>
            <a:pPr marL="0" indent="0" algn="just">
              <a:buNone/>
            </a:pPr>
            <a:r>
              <a:rPr lang="es-ES" dirty="0">
                <a:latin typeface="Abadi Extra Light" panose="020B0204020104020204" pitchFamily="34" charset="0"/>
              </a:rPr>
              <a:t>Este tipo de red artificial ayuda a realizar predicciones de lo que sucederá en un futuro a partir de datos históricos. Por ejemplo, podemos usar las redes neuronales recurrentes para predecir el volumen de ventas de un cierto producto. Esto ayuda a predecir el stock necesario y ahorrar dinero.</a:t>
            </a:r>
            <a:endParaRPr lang="es-CL" dirty="0">
              <a:latin typeface="Abadi Extra Light" panose="020B0204020104020204" pitchFamily="34" charset="0"/>
            </a:endParaRPr>
          </a:p>
        </p:txBody>
      </p:sp>
    </p:spTree>
    <p:extLst>
      <p:ext uri="{BB962C8B-B14F-4D97-AF65-F5344CB8AC3E}">
        <p14:creationId xmlns:p14="http://schemas.microsoft.com/office/powerpoint/2010/main" val="1369900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20011E-F3CD-CE18-1D8D-9C10A31024FC}"/>
              </a:ext>
            </a:extLst>
          </p:cNvPr>
          <p:cNvSpPr>
            <a:spLocks noGrp="1"/>
          </p:cNvSpPr>
          <p:nvPr>
            <p:ph type="title"/>
          </p:nvPr>
        </p:nvSpPr>
        <p:spPr/>
        <p:txBody>
          <a:bodyPr vert="horz" lIns="91440" tIns="45720" rIns="91440" bIns="45720" rtlCol="0" anchor="ctr">
            <a:normAutofit/>
          </a:bodyPr>
          <a:lstStyle/>
          <a:p>
            <a:r>
              <a:rPr lang="es-CL" sz="3600" dirty="0">
                <a:solidFill>
                  <a:srgbClr val="00B0F0"/>
                </a:solidFill>
                <a:latin typeface="Abadi Extra Light" panose="020B0204020104020204" pitchFamily="34" charset="0"/>
              </a:rPr>
              <a:t>La neurona recurrente</a:t>
            </a:r>
          </a:p>
        </p:txBody>
      </p:sp>
      <p:sp>
        <p:nvSpPr>
          <p:cNvPr id="3" name="Marcador de contenido 2">
            <a:extLst>
              <a:ext uri="{FF2B5EF4-FFF2-40B4-BE49-F238E27FC236}">
                <a16:creationId xmlns:a16="http://schemas.microsoft.com/office/drawing/2014/main" id="{0F784D41-3C96-B009-4B9F-EC41D20F945A}"/>
              </a:ext>
            </a:extLst>
          </p:cNvPr>
          <p:cNvSpPr>
            <a:spLocks noGrp="1"/>
          </p:cNvSpPr>
          <p:nvPr>
            <p:ph idx="1"/>
          </p:nvPr>
        </p:nvSpPr>
        <p:spPr/>
        <p:txBody>
          <a:bodyPr>
            <a:normAutofit/>
          </a:bodyPr>
          <a:lstStyle/>
          <a:p>
            <a:pPr algn="just"/>
            <a:r>
              <a:rPr lang="es-ES" b="0" i="0" dirty="0">
                <a:solidFill>
                  <a:srgbClr val="000000"/>
                </a:solidFill>
                <a:effectLst/>
                <a:latin typeface="Abadi Extra Light" panose="020B0204020104020204" pitchFamily="34" charset="0"/>
              </a:rPr>
              <a:t>En </a:t>
            </a:r>
            <a:r>
              <a:rPr lang="es-ES" dirty="0">
                <a:solidFill>
                  <a:srgbClr val="000000"/>
                </a:solidFill>
                <a:latin typeface="Abadi Extra Light" panose="020B0204020104020204" pitchFamily="34" charset="0"/>
              </a:rPr>
              <a:t>las </a:t>
            </a:r>
            <a:r>
              <a:rPr lang="es-ES" b="0" i="0" dirty="0">
                <a:solidFill>
                  <a:srgbClr val="000000"/>
                </a:solidFill>
                <a:effectLst/>
                <a:latin typeface="Abadi Extra Light" panose="020B0204020104020204" pitchFamily="34" charset="0"/>
              </a:rPr>
              <a:t>redes neuronales, las funciones de activación solo se mueven hacia una dirección: </a:t>
            </a:r>
            <a:r>
              <a:rPr lang="es-ES" b="0" i="0" u="sng" dirty="0">
                <a:solidFill>
                  <a:srgbClr val="FF0000"/>
                </a:solidFill>
                <a:effectLst/>
                <a:latin typeface="Abadi Extra Light" panose="020B0204020104020204" pitchFamily="34" charset="0"/>
              </a:rPr>
              <a:t>hacia adelante.</a:t>
            </a:r>
          </a:p>
          <a:p>
            <a:pPr algn="just"/>
            <a:endParaRPr lang="es-ES" b="0" i="0" u="sng" dirty="0">
              <a:solidFill>
                <a:srgbClr val="FF0000"/>
              </a:solidFill>
              <a:effectLst/>
              <a:latin typeface="Abadi Extra Light" panose="020B0204020104020204" pitchFamily="34" charset="0"/>
            </a:endParaRPr>
          </a:p>
          <a:p>
            <a:pPr algn="just"/>
            <a:r>
              <a:rPr lang="es-ES" b="0" i="0" dirty="0">
                <a:solidFill>
                  <a:srgbClr val="000000"/>
                </a:solidFill>
                <a:effectLst/>
                <a:latin typeface="Abadi Extra Light" panose="020B0204020104020204" pitchFamily="34" charset="0"/>
              </a:rPr>
              <a:t>Una neurona recurrente transmite la información hacia adelante pero también tiene la característica de enviar la información hacia atrás. Por lo tanto, en cada paso, la neurona recurrente recibe datos de las neuronas anteriores, pero también recibe información de ella misma en el paso anterior.</a:t>
            </a:r>
          </a:p>
          <a:p>
            <a:endParaRPr lang="es-CL" dirty="0">
              <a:latin typeface="Abadi Extra Light" panose="020B0204020104020204" pitchFamily="34" charset="0"/>
            </a:endParaRPr>
          </a:p>
        </p:txBody>
      </p:sp>
    </p:spTree>
    <p:extLst>
      <p:ext uri="{BB962C8B-B14F-4D97-AF65-F5344CB8AC3E}">
        <p14:creationId xmlns:p14="http://schemas.microsoft.com/office/powerpoint/2010/main" val="1586197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52FB5-6EBB-7101-4CC3-0166BF88A6CB}"/>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3D62467B-8214-423E-CB9E-C83DEA55826B}"/>
              </a:ext>
            </a:extLst>
          </p:cNvPr>
          <p:cNvSpPr>
            <a:spLocks noGrp="1"/>
          </p:cNvSpPr>
          <p:nvPr>
            <p:ph idx="1"/>
          </p:nvPr>
        </p:nvSpPr>
        <p:spPr/>
        <p:txBody>
          <a:bodyPr/>
          <a:lstStyle/>
          <a:p>
            <a:endParaRPr lang="es-CL"/>
          </a:p>
        </p:txBody>
      </p:sp>
      <p:pic>
        <p:nvPicPr>
          <p:cNvPr id="1026" name="Picture 2" descr="esquema de las neuronas recurrentes">
            <a:extLst>
              <a:ext uri="{FF2B5EF4-FFF2-40B4-BE49-F238E27FC236}">
                <a16:creationId xmlns:a16="http://schemas.microsoft.com/office/drawing/2014/main" id="{68A04E10-2C14-C7EE-289B-B0C0F73559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537"/>
          <a:stretch/>
        </p:blipFill>
        <p:spPr bwMode="auto">
          <a:xfrm>
            <a:off x="764233" y="365125"/>
            <a:ext cx="10722917" cy="618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1216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2D618D-ACB1-9BB4-358F-CF2BD98B948D}"/>
              </a:ext>
            </a:extLst>
          </p:cNvPr>
          <p:cNvSpPr>
            <a:spLocks noGrp="1"/>
          </p:cNvSpPr>
          <p:nvPr>
            <p:ph type="title"/>
          </p:nvPr>
        </p:nvSpPr>
        <p:spPr/>
        <p:txBody>
          <a:bodyPr vert="horz" lIns="91440" tIns="45720" rIns="91440" bIns="45720" rtlCol="0" anchor="ctr">
            <a:normAutofit/>
          </a:bodyPr>
          <a:lstStyle/>
          <a:p>
            <a:r>
              <a:rPr lang="es-CL" sz="3600" dirty="0">
                <a:solidFill>
                  <a:srgbClr val="00B0F0"/>
                </a:solidFill>
                <a:latin typeface="Abadi Extra Light" panose="020B0204020104020204" pitchFamily="34" charset="0"/>
              </a:rPr>
              <a:t>Tipos de redes neuronales recurrentes</a:t>
            </a:r>
          </a:p>
        </p:txBody>
      </p:sp>
      <p:sp>
        <p:nvSpPr>
          <p:cNvPr id="3" name="Marcador de contenido 2">
            <a:extLst>
              <a:ext uri="{FF2B5EF4-FFF2-40B4-BE49-F238E27FC236}">
                <a16:creationId xmlns:a16="http://schemas.microsoft.com/office/drawing/2014/main" id="{8FACEDAD-C7A4-4086-CC1B-CDF1C3B510E4}"/>
              </a:ext>
            </a:extLst>
          </p:cNvPr>
          <p:cNvSpPr>
            <a:spLocks noGrp="1"/>
          </p:cNvSpPr>
          <p:nvPr>
            <p:ph idx="1"/>
          </p:nvPr>
        </p:nvSpPr>
        <p:spPr>
          <a:xfrm>
            <a:off x="395456" y="1874177"/>
            <a:ext cx="5465496" cy="4351338"/>
          </a:xfrm>
        </p:spPr>
        <p:txBody>
          <a:bodyPr/>
          <a:lstStyle/>
          <a:p>
            <a:pPr marL="0" indent="0">
              <a:buNone/>
            </a:pPr>
            <a:r>
              <a:rPr lang="en-US" b="1" i="0" dirty="0">
                <a:solidFill>
                  <a:srgbClr val="000000"/>
                </a:solidFill>
                <a:effectLst/>
                <a:latin typeface="Abadi Extra Light" panose="020B0204020104020204" pitchFamily="34" charset="0"/>
              </a:rPr>
              <a:t>Vector a </a:t>
            </a:r>
            <a:r>
              <a:rPr lang="en-US" b="1" i="0" dirty="0" err="1">
                <a:solidFill>
                  <a:srgbClr val="000000"/>
                </a:solidFill>
                <a:effectLst/>
                <a:latin typeface="Abadi Extra Light" panose="020B0204020104020204" pitchFamily="34" charset="0"/>
              </a:rPr>
              <a:t>secuencia</a:t>
            </a:r>
            <a:r>
              <a:rPr lang="en-US" b="1" i="0" dirty="0">
                <a:solidFill>
                  <a:srgbClr val="000000"/>
                </a:solidFill>
                <a:effectLst/>
                <a:latin typeface="Abadi Extra Light" panose="020B0204020104020204" pitchFamily="34" charset="0"/>
              </a:rPr>
              <a:t> o </a:t>
            </a:r>
            <a:r>
              <a:rPr lang="en-US" b="1" i="1" dirty="0">
                <a:solidFill>
                  <a:srgbClr val="000000"/>
                </a:solidFill>
                <a:effectLst/>
                <a:latin typeface="Abadi Extra Light" panose="020B0204020104020204" pitchFamily="34" charset="0"/>
              </a:rPr>
              <a:t>one-to-many</a:t>
            </a:r>
            <a:endParaRPr lang="en-US" b="1" i="0" dirty="0">
              <a:solidFill>
                <a:srgbClr val="000000"/>
              </a:solidFill>
              <a:effectLst/>
              <a:latin typeface="Abadi Extra Light" panose="020B0204020104020204" pitchFamily="34" charset="0"/>
            </a:endParaRPr>
          </a:p>
          <a:p>
            <a:pPr marL="0" indent="0" algn="just">
              <a:buNone/>
            </a:pPr>
            <a:r>
              <a:rPr lang="es-ES" sz="1800" b="0" i="0" dirty="0">
                <a:solidFill>
                  <a:srgbClr val="000000"/>
                </a:solidFill>
                <a:effectLst/>
                <a:latin typeface="Abadi Extra Light" panose="020B0204020104020204" pitchFamily="34" charset="0"/>
              </a:rPr>
              <a:t>Este tipo de arquitectura permite la entrada de un dato y la salida de muchos datos en forma de secuencia. De ahí viene el nombre inglés de </a:t>
            </a:r>
            <a:r>
              <a:rPr lang="es-ES" sz="1800" b="0" i="0" dirty="0" err="1">
                <a:solidFill>
                  <a:srgbClr val="000000"/>
                </a:solidFill>
                <a:effectLst/>
                <a:latin typeface="Abadi Extra Light" panose="020B0204020104020204" pitchFamily="34" charset="0"/>
              </a:rPr>
              <a:t>one-to-many</a:t>
            </a:r>
            <a:r>
              <a:rPr lang="es-ES" sz="1800" b="0" i="0" dirty="0">
                <a:solidFill>
                  <a:srgbClr val="000000"/>
                </a:solidFill>
                <a:effectLst/>
                <a:latin typeface="Abadi Extra Light" panose="020B0204020104020204" pitchFamily="34" charset="0"/>
              </a:rPr>
              <a:t>.</a:t>
            </a:r>
          </a:p>
          <a:p>
            <a:pPr marL="0" indent="0" algn="just">
              <a:buNone/>
            </a:pPr>
            <a:endParaRPr lang="es-ES" sz="1800" b="0" i="0" dirty="0">
              <a:solidFill>
                <a:srgbClr val="000000"/>
              </a:solidFill>
              <a:effectLst/>
              <a:latin typeface="Abadi Extra Light" panose="020B0204020104020204" pitchFamily="34" charset="0"/>
            </a:endParaRPr>
          </a:p>
          <a:p>
            <a:pPr marL="0" indent="0" algn="just">
              <a:buNone/>
            </a:pPr>
            <a:r>
              <a:rPr lang="es-ES" sz="1800" b="0" i="0" dirty="0">
                <a:solidFill>
                  <a:srgbClr val="000000"/>
                </a:solidFill>
                <a:effectLst/>
                <a:latin typeface="Abadi Extra Light" panose="020B0204020104020204" pitchFamily="34" charset="0"/>
              </a:rPr>
              <a:t>Un ejemplo sería un modelo que a partir de una imagen nos la pudiera describir. Por lo tanto, en la red entraría un único dato, en este caso la imagen y obtendríamos una secuencia de datos, el texto, que sería la descripción de la imagen.</a:t>
            </a:r>
          </a:p>
          <a:p>
            <a:endParaRPr lang="es-CL" dirty="0">
              <a:latin typeface="Abadi Extra Light" panose="020B0204020104020204" pitchFamily="34" charset="0"/>
            </a:endParaRPr>
          </a:p>
        </p:txBody>
      </p:sp>
      <p:pic>
        <p:nvPicPr>
          <p:cNvPr id="2050" name="Picture 2" descr="tipo red neuronal recurrente one-to-many">
            <a:extLst>
              <a:ext uri="{FF2B5EF4-FFF2-40B4-BE49-F238E27FC236}">
                <a16:creationId xmlns:a16="http://schemas.microsoft.com/office/drawing/2014/main" id="{C7B10FD0-6915-17A6-C592-5F7FD6395A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091"/>
          <a:stretch/>
        </p:blipFill>
        <p:spPr bwMode="auto">
          <a:xfrm>
            <a:off x="6166891" y="2176758"/>
            <a:ext cx="5629653" cy="3374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97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36DEC1-E2F1-7CFB-A18B-23669498EE9B}"/>
              </a:ext>
            </a:extLst>
          </p:cNvPr>
          <p:cNvSpPr>
            <a:spLocks noGrp="1"/>
          </p:cNvSpPr>
          <p:nvPr>
            <p:ph type="title"/>
          </p:nvPr>
        </p:nvSpPr>
        <p:spPr/>
        <p:txBody>
          <a:bodyPr vert="horz" lIns="91440" tIns="45720" rIns="91440" bIns="45720" rtlCol="0" anchor="ctr">
            <a:normAutofit/>
          </a:bodyPr>
          <a:lstStyle/>
          <a:p>
            <a:r>
              <a:rPr lang="es-CL" sz="3600" dirty="0">
                <a:solidFill>
                  <a:srgbClr val="00B0F0"/>
                </a:solidFill>
                <a:latin typeface="Abadi Extra Light" panose="020B0204020104020204" pitchFamily="34" charset="0"/>
              </a:rPr>
              <a:t>Tipos de redes neuronales recurrentes</a:t>
            </a:r>
          </a:p>
        </p:txBody>
      </p:sp>
      <p:sp>
        <p:nvSpPr>
          <p:cNvPr id="3" name="Marcador de contenido 2">
            <a:extLst>
              <a:ext uri="{FF2B5EF4-FFF2-40B4-BE49-F238E27FC236}">
                <a16:creationId xmlns:a16="http://schemas.microsoft.com/office/drawing/2014/main" id="{050F611D-9BFA-4FFD-A321-296B11702598}"/>
              </a:ext>
            </a:extLst>
          </p:cNvPr>
          <p:cNvSpPr>
            <a:spLocks noGrp="1"/>
          </p:cNvSpPr>
          <p:nvPr>
            <p:ph idx="1"/>
          </p:nvPr>
        </p:nvSpPr>
        <p:spPr>
          <a:xfrm>
            <a:off x="279849" y="1801019"/>
            <a:ext cx="4834318" cy="4351338"/>
          </a:xfrm>
        </p:spPr>
        <p:txBody>
          <a:bodyPr>
            <a:normAutofit/>
          </a:bodyPr>
          <a:lstStyle/>
          <a:p>
            <a:pPr marL="0" indent="0" algn="just">
              <a:buNone/>
            </a:pPr>
            <a:r>
              <a:rPr lang="en-US" sz="2000" b="1" dirty="0" err="1">
                <a:latin typeface="Abadi Extra Light" panose="020B0204020104020204" pitchFamily="34" charset="0"/>
              </a:rPr>
              <a:t>Secuencia</a:t>
            </a:r>
            <a:r>
              <a:rPr lang="en-US" sz="2000" b="1" dirty="0">
                <a:latin typeface="Abadi Extra Light" panose="020B0204020104020204" pitchFamily="34" charset="0"/>
              </a:rPr>
              <a:t> a vector o many-to-one</a:t>
            </a:r>
            <a:endParaRPr lang="es-ES" sz="2000" b="1" i="0" dirty="0">
              <a:effectLst/>
              <a:latin typeface="Abadi Extra Light" panose="020B0204020104020204" pitchFamily="34" charset="0"/>
            </a:endParaRPr>
          </a:p>
          <a:p>
            <a:pPr algn="just"/>
            <a:r>
              <a:rPr lang="es-ES" sz="1800" b="0" i="0" dirty="0">
                <a:solidFill>
                  <a:srgbClr val="000000"/>
                </a:solidFill>
                <a:effectLst/>
                <a:latin typeface="Abadi Extra Light" panose="020B0204020104020204" pitchFamily="34" charset="0"/>
              </a:rPr>
              <a:t>Este tipo de arquitectura es justo el contrario de la anterior. Damos como valor de entrada una secuencia y obtenemos un dato único.</a:t>
            </a:r>
          </a:p>
          <a:p>
            <a:pPr algn="just"/>
            <a:r>
              <a:rPr lang="es-ES" sz="1800" b="0" i="0" dirty="0">
                <a:solidFill>
                  <a:srgbClr val="000000"/>
                </a:solidFill>
                <a:effectLst/>
                <a:latin typeface="Abadi Extra Light" panose="020B0204020104020204" pitchFamily="34" charset="0"/>
              </a:rPr>
              <a:t>Por ejemplo, un modelo que recibiera una descripción de una imagen y creara dicha imagen seria una rede neuronal recurrente </a:t>
            </a:r>
            <a:r>
              <a:rPr lang="es-ES" sz="1800" b="0" i="0" dirty="0" err="1">
                <a:solidFill>
                  <a:srgbClr val="000000"/>
                </a:solidFill>
                <a:effectLst/>
                <a:latin typeface="Abadi Extra Light" panose="020B0204020104020204" pitchFamily="34" charset="0"/>
              </a:rPr>
              <a:t>many-to-one</a:t>
            </a:r>
            <a:r>
              <a:rPr lang="es-ES" sz="1800" b="0" i="0" dirty="0">
                <a:solidFill>
                  <a:srgbClr val="000000"/>
                </a:solidFill>
                <a:effectLst/>
                <a:latin typeface="Abadi Extra Light" panose="020B0204020104020204" pitchFamily="34" charset="0"/>
              </a:rPr>
              <a:t>.</a:t>
            </a:r>
          </a:p>
          <a:p>
            <a:endParaRPr lang="es-CL" sz="1800" dirty="0">
              <a:latin typeface="Abadi Extra Light" panose="020B0204020104020204" pitchFamily="34" charset="0"/>
            </a:endParaRPr>
          </a:p>
        </p:txBody>
      </p:sp>
      <p:pic>
        <p:nvPicPr>
          <p:cNvPr id="3074" name="Picture 2" descr="tipo red neuronal recurrente many-to-one">
            <a:extLst>
              <a:ext uri="{FF2B5EF4-FFF2-40B4-BE49-F238E27FC236}">
                <a16:creationId xmlns:a16="http://schemas.microsoft.com/office/drawing/2014/main" id="{89E576C7-EBF8-FE13-CFAA-49C7F7C67E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253"/>
          <a:stretch/>
        </p:blipFill>
        <p:spPr bwMode="auto">
          <a:xfrm>
            <a:off x="5175531" y="1690688"/>
            <a:ext cx="6858000" cy="4103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504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7A07D8-C433-9FD2-AEAE-F150BF4BCCBE}"/>
              </a:ext>
            </a:extLst>
          </p:cNvPr>
          <p:cNvSpPr>
            <a:spLocks noGrp="1"/>
          </p:cNvSpPr>
          <p:nvPr>
            <p:ph type="title"/>
          </p:nvPr>
        </p:nvSpPr>
        <p:spPr/>
        <p:txBody>
          <a:bodyPr vert="horz" lIns="91440" tIns="45720" rIns="91440" bIns="45720" rtlCol="0" anchor="ctr">
            <a:normAutofit/>
          </a:bodyPr>
          <a:lstStyle/>
          <a:p>
            <a:r>
              <a:rPr lang="es-CL" sz="3600" dirty="0">
                <a:solidFill>
                  <a:srgbClr val="00B0F0"/>
                </a:solidFill>
                <a:latin typeface="Abadi Extra Light" panose="020B0204020104020204" pitchFamily="34" charset="0"/>
              </a:rPr>
              <a:t>Tipos de redes neuronales recurrentes</a:t>
            </a:r>
          </a:p>
        </p:txBody>
      </p:sp>
      <p:sp>
        <p:nvSpPr>
          <p:cNvPr id="3" name="Marcador de contenido 2">
            <a:extLst>
              <a:ext uri="{FF2B5EF4-FFF2-40B4-BE49-F238E27FC236}">
                <a16:creationId xmlns:a16="http://schemas.microsoft.com/office/drawing/2014/main" id="{1AA6D40F-7B28-0C64-2CC3-1A3250950687}"/>
              </a:ext>
            </a:extLst>
          </p:cNvPr>
          <p:cNvSpPr>
            <a:spLocks noGrp="1"/>
          </p:cNvSpPr>
          <p:nvPr>
            <p:ph idx="1"/>
          </p:nvPr>
        </p:nvSpPr>
        <p:spPr>
          <a:xfrm>
            <a:off x="838200" y="1825625"/>
            <a:ext cx="4518727" cy="4351338"/>
          </a:xfrm>
        </p:spPr>
        <p:txBody>
          <a:bodyPr>
            <a:normAutofit/>
          </a:bodyPr>
          <a:lstStyle/>
          <a:p>
            <a:pPr marL="0" indent="0" algn="just">
              <a:buNone/>
            </a:pPr>
            <a:r>
              <a:rPr lang="es-CL" sz="2000" b="1" dirty="0">
                <a:latin typeface="Abadi Extra Light" panose="020B0204020104020204" pitchFamily="34" charset="0"/>
              </a:rPr>
              <a:t>Secuencia a secuencia o </a:t>
            </a:r>
            <a:r>
              <a:rPr lang="es-CL" sz="2000" b="1" dirty="0" err="1">
                <a:latin typeface="Abadi Extra Light" panose="020B0204020104020204" pitchFamily="34" charset="0"/>
              </a:rPr>
              <a:t>many-to-many</a:t>
            </a:r>
            <a:endParaRPr lang="es-ES" sz="2000" b="1" i="0" dirty="0">
              <a:effectLst/>
              <a:latin typeface="Abadi Extra Light" panose="020B0204020104020204" pitchFamily="34" charset="0"/>
            </a:endParaRPr>
          </a:p>
          <a:p>
            <a:pPr algn="just"/>
            <a:r>
              <a:rPr lang="es-ES" sz="2000" b="0" i="0" dirty="0">
                <a:solidFill>
                  <a:srgbClr val="000000"/>
                </a:solidFill>
                <a:effectLst/>
                <a:latin typeface="Abadi Extra Light" panose="020B0204020104020204" pitchFamily="34" charset="0"/>
              </a:rPr>
              <a:t>Finalmente tenemos las redes recurrentes </a:t>
            </a:r>
            <a:r>
              <a:rPr lang="es-ES" sz="2000" b="0" i="0" dirty="0" err="1">
                <a:solidFill>
                  <a:srgbClr val="000000"/>
                </a:solidFill>
                <a:effectLst/>
                <a:latin typeface="Abadi Extra Light" panose="020B0204020104020204" pitchFamily="34" charset="0"/>
              </a:rPr>
              <a:t>many-to-many</a:t>
            </a:r>
            <a:r>
              <a:rPr lang="es-ES" sz="2000" b="0" i="0" dirty="0">
                <a:solidFill>
                  <a:srgbClr val="000000"/>
                </a:solidFill>
                <a:effectLst/>
                <a:latin typeface="Abadi Extra Light" panose="020B0204020104020204" pitchFamily="34" charset="0"/>
              </a:rPr>
              <a:t>.</a:t>
            </a:r>
          </a:p>
          <a:p>
            <a:pPr algn="just"/>
            <a:r>
              <a:rPr lang="es-ES" sz="2000" b="0" i="0" dirty="0">
                <a:solidFill>
                  <a:srgbClr val="000000"/>
                </a:solidFill>
                <a:effectLst/>
                <a:latin typeface="Abadi Extra Light" panose="020B0204020104020204" pitchFamily="34" charset="0"/>
              </a:rPr>
              <a:t> Esta arquitectura recibe datos </a:t>
            </a:r>
            <a:r>
              <a:rPr lang="es-ES" sz="2000" i="0" dirty="0">
                <a:solidFill>
                  <a:srgbClr val="000000"/>
                </a:solidFill>
                <a:effectLst/>
                <a:latin typeface="Abadi Extra Light" panose="020B0204020104020204" pitchFamily="34" charset="0"/>
              </a:rPr>
              <a:t>secuenciales</a:t>
            </a:r>
            <a:r>
              <a:rPr lang="es-ES" sz="2000" b="0" i="0" dirty="0">
                <a:solidFill>
                  <a:srgbClr val="000000"/>
                </a:solidFill>
                <a:effectLst/>
                <a:latin typeface="Abadi Extra Light" panose="020B0204020104020204" pitchFamily="34" charset="0"/>
              </a:rPr>
              <a:t> de entrada y crea datos secuenciales de salida. Un ejemplo muy claro son los traductores inteligentes.</a:t>
            </a:r>
          </a:p>
          <a:p>
            <a:pPr algn="just"/>
            <a:r>
              <a:rPr lang="es-ES" sz="2000" b="0" i="0" dirty="0">
                <a:solidFill>
                  <a:srgbClr val="000000"/>
                </a:solidFill>
                <a:effectLst/>
                <a:latin typeface="Abadi Extra Light" panose="020B0204020104020204" pitchFamily="34" charset="0"/>
              </a:rPr>
              <a:t>Estos reciben un texto, por ejemplo, en castellano y genera un nuevo texto, por ejemplo, en inglés. También sirven para generar resúmenes de texto o para pasar texto a audio o audio a texto.</a:t>
            </a:r>
          </a:p>
          <a:p>
            <a:endParaRPr lang="es-CL" sz="2000" dirty="0">
              <a:latin typeface="Abadi Extra Light" panose="020B0204020104020204" pitchFamily="34" charset="0"/>
            </a:endParaRPr>
          </a:p>
        </p:txBody>
      </p:sp>
      <p:pic>
        <p:nvPicPr>
          <p:cNvPr id="4098" name="Picture 2" descr="tipo red neuronal recurrente many-to-many">
            <a:extLst>
              <a:ext uri="{FF2B5EF4-FFF2-40B4-BE49-F238E27FC236}">
                <a16:creationId xmlns:a16="http://schemas.microsoft.com/office/drawing/2014/main" id="{2224BA35-331C-C1B0-7496-D9FB412FAD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840"/>
          <a:stretch/>
        </p:blipFill>
        <p:spPr bwMode="auto">
          <a:xfrm>
            <a:off x="5988105" y="1762180"/>
            <a:ext cx="5608455" cy="3333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156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8255C1-36C3-BEA7-85C7-592F7AB0E624}"/>
              </a:ext>
            </a:extLst>
          </p:cNvPr>
          <p:cNvSpPr>
            <a:spLocks noGrp="1"/>
          </p:cNvSpPr>
          <p:nvPr>
            <p:ph type="title"/>
          </p:nvPr>
        </p:nvSpPr>
        <p:spPr/>
        <p:txBody>
          <a:bodyPr vert="horz" lIns="91440" tIns="45720" rIns="91440" bIns="45720" rtlCol="0" anchor="ctr">
            <a:normAutofit/>
          </a:bodyPr>
          <a:lstStyle/>
          <a:p>
            <a:r>
              <a:rPr lang="pt-BR" sz="3600" dirty="0" err="1">
                <a:solidFill>
                  <a:srgbClr val="00B0F0"/>
                </a:solidFill>
                <a:latin typeface="Abadi Extra Light" panose="020B0204020104020204" pitchFamily="34" charset="0"/>
              </a:rPr>
              <a:t>Celdas</a:t>
            </a:r>
            <a:r>
              <a:rPr lang="pt-BR" sz="3600" dirty="0">
                <a:solidFill>
                  <a:srgbClr val="00B0F0"/>
                </a:solidFill>
                <a:latin typeface="Abadi Extra Light" panose="020B0204020104020204" pitchFamily="34" charset="0"/>
              </a:rPr>
              <a:t> de memoria o </a:t>
            </a:r>
            <a:r>
              <a:rPr lang="pt-BR" sz="3600" dirty="0" err="1">
                <a:solidFill>
                  <a:srgbClr val="00B0F0"/>
                </a:solidFill>
                <a:latin typeface="Abadi Extra Light" panose="020B0204020104020204" pitchFamily="34" charset="0"/>
              </a:rPr>
              <a:t>memory</a:t>
            </a:r>
            <a:r>
              <a:rPr lang="pt-BR" sz="3600" dirty="0">
                <a:solidFill>
                  <a:srgbClr val="00B0F0"/>
                </a:solidFill>
                <a:latin typeface="Abadi Extra Light" panose="020B0204020104020204" pitchFamily="34" charset="0"/>
              </a:rPr>
              <a:t> </a:t>
            </a:r>
            <a:r>
              <a:rPr lang="pt-BR" sz="3600" dirty="0" err="1">
                <a:solidFill>
                  <a:srgbClr val="00B0F0"/>
                </a:solidFill>
                <a:latin typeface="Abadi Extra Light" panose="020B0204020104020204" pitchFamily="34" charset="0"/>
              </a:rPr>
              <a:t>cells</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1368AE79-22A6-83B2-6CA7-C308B505887B}"/>
              </a:ext>
            </a:extLst>
          </p:cNvPr>
          <p:cNvSpPr>
            <a:spLocks noGrp="1"/>
          </p:cNvSpPr>
          <p:nvPr>
            <p:ph idx="1"/>
          </p:nvPr>
        </p:nvSpPr>
        <p:spPr/>
        <p:txBody>
          <a:bodyPr>
            <a:normAutofit/>
          </a:bodyPr>
          <a:lstStyle/>
          <a:p>
            <a:pPr algn="just"/>
            <a:r>
              <a:rPr lang="es-ES" b="0" i="0" dirty="0">
                <a:solidFill>
                  <a:srgbClr val="000000"/>
                </a:solidFill>
                <a:effectLst/>
                <a:latin typeface="Abadi Extra Light" panose="020B0204020104020204" pitchFamily="34" charset="0"/>
              </a:rPr>
              <a:t>Toda la información nueva va añadiéndose al flujo de datos, hecho que permite que este tipo de redes tengan memoria. Resumiendo, las RNN tiene a cada </a:t>
            </a:r>
            <a:r>
              <a:rPr lang="es-ES" b="0" i="0" dirty="0" err="1">
                <a:solidFill>
                  <a:srgbClr val="000000"/>
                </a:solidFill>
                <a:effectLst/>
                <a:latin typeface="Abadi Extra Light" panose="020B0204020104020204" pitchFamily="34" charset="0"/>
              </a:rPr>
              <a:t>timestep</a:t>
            </a:r>
            <a:r>
              <a:rPr lang="es-ES" b="0" i="0" dirty="0">
                <a:solidFill>
                  <a:srgbClr val="000000"/>
                </a:solidFill>
                <a:effectLst/>
                <a:latin typeface="Abadi Extra Light" panose="020B0204020104020204" pitchFamily="34" charset="0"/>
              </a:rPr>
              <a:t> o paso de tiempo información de los tiempos anteriores, es decir, puede recordar lo visto anteriormente en la secuencia.</a:t>
            </a:r>
          </a:p>
          <a:p>
            <a:pPr algn="just"/>
            <a:endParaRPr lang="es-ES" b="0" i="0" dirty="0">
              <a:solidFill>
                <a:srgbClr val="000000"/>
              </a:solidFill>
              <a:effectLst/>
              <a:latin typeface="Abadi Extra Light" panose="020B0204020104020204" pitchFamily="34" charset="0"/>
            </a:endParaRPr>
          </a:p>
          <a:p>
            <a:pPr algn="just"/>
            <a:r>
              <a:rPr lang="es-ES" b="0" i="0" dirty="0">
                <a:solidFill>
                  <a:srgbClr val="000000"/>
                </a:solidFill>
                <a:effectLst/>
                <a:latin typeface="Abadi Extra Light" panose="020B0204020104020204" pitchFamily="34" charset="0"/>
              </a:rPr>
              <a:t>Esto permite, por ejemplo, que cuando se introduce un texto en la red neuronal recurrente, esta pueda relacionar conceptos distantes en la secuencia.</a:t>
            </a:r>
          </a:p>
          <a:p>
            <a:endParaRPr lang="es-CL" dirty="0">
              <a:latin typeface="Abadi Extra Light" panose="020B0204020104020204" pitchFamily="34" charset="0"/>
            </a:endParaRPr>
          </a:p>
        </p:txBody>
      </p:sp>
    </p:spTree>
    <p:extLst>
      <p:ext uri="{BB962C8B-B14F-4D97-AF65-F5344CB8AC3E}">
        <p14:creationId xmlns:p14="http://schemas.microsoft.com/office/powerpoint/2010/main" val="429317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5CBAAB-F1D4-4D22-887F-EACF12E2E983}"/>
              </a:ext>
            </a:extLst>
          </p:cNvPr>
          <p:cNvSpPr>
            <a:spLocks noGrp="1"/>
          </p:cNvSpPr>
          <p:nvPr>
            <p:ph type="title"/>
          </p:nvPr>
        </p:nvSpPr>
        <p:spPr/>
        <p:txBody>
          <a:bodyPr vert="horz" lIns="91440" tIns="45720" rIns="91440" bIns="45720" rtlCol="0" anchor="ctr">
            <a:normAutofit/>
          </a:bodyPr>
          <a:lstStyle/>
          <a:p>
            <a:r>
              <a:rPr lang="es-CL" sz="3200" dirty="0">
                <a:solidFill>
                  <a:srgbClr val="00B0F0"/>
                </a:solidFill>
                <a:latin typeface="Abadi Extra Light" panose="020B0204020104020204" pitchFamily="34" charset="0"/>
              </a:rPr>
              <a:t>Problema de la memoria a corto plazo ( short-</a:t>
            </a:r>
            <a:r>
              <a:rPr lang="es-CL" sz="3200" dirty="0" err="1">
                <a:solidFill>
                  <a:srgbClr val="00B0F0"/>
                </a:solidFill>
                <a:latin typeface="Abadi Extra Light" panose="020B0204020104020204" pitchFamily="34" charset="0"/>
              </a:rPr>
              <a:t>term</a:t>
            </a:r>
            <a:r>
              <a:rPr lang="es-CL" sz="3200" dirty="0">
                <a:solidFill>
                  <a:srgbClr val="00B0F0"/>
                </a:solidFill>
                <a:latin typeface="Abadi Extra Light" panose="020B0204020104020204" pitchFamily="34" charset="0"/>
              </a:rPr>
              <a:t> </a:t>
            </a:r>
            <a:r>
              <a:rPr lang="es-CL" sz="3200" dirty="0" err="1">
                <a:solidFill>
                  <a:srgbClr val="00B0F0"/>
                </a:solidFill>
                <a:latin typeface="Abadi Extra Light" panose="020B0204020104020204" pitchFamily="34" charset="0"/>
              </a:rPr>
              <a:t>memory</a:t>
            </a:r>
            <a:r>
              <a:rPr lang="es-CL" sz="3200" dirty="0">
                <a:solidFill>
                  <a:srgbClr val="00B0F0"/>
                </a:solidFill>
                <a:latin typeface="Abadi Extra Light" panose="020B0204020104020204" pitchFamily="34" charset="0"/>
              </a:rPr>
              <a:t> )</a:t>
            </a:r>
          </a:p>
        </p:txBody>
      </p:sp>
      <p:sp>
        <p:nvSpPr>
          <p:cNvPr id="3" name="Marcador de contenido 2">
            <a:extLst>
              <a:ext uri="{FF2B5EF4-FFF2-40B4-BE49-F238E27FC236}">
                <a16:creationId xmlns:a16="http://schemas.microsoft.com/office/drawing/2014/main" id="{4BCF1D2F-3C12-66BD-8714-33A7D0A769FD}"/>
              </a:ext>
            </a:extLst>
          </p:cNvPr>
          <p:cNvSpPr>
            <a:spLocks noGrp="1"/>
          </p:cNvSpPr>
          <p:nvPr>
            <p:ph idx="1"/>
          </p:nvPr>
        </p:nvSpPr>
        <p:spPr/>
        <p:txBody>
          <a:bodyPr>
            <a:normAutofit fontScale="92500"/>
          </a:bodyPr>
          <a:lstStyle/>
          <a:p>
            <a:pPr algn="just"/>
            <a:r>
              <a:rPr lang="es-ES" b="0" i="0" dirty="0">
                <a:solidFill>
                  <a:srgbClr val="000000"/>
                </a:solidFill>
                <a:effectLst/>
                <a:latin typeface="Abadi Extra Light" panose="020B0204020104020204" pitchFamily="34" charset="0"/>
              </a:rPr>
              <a:t>La memoria de este tipo de redes es limitada, por lo que, es difícil la transmisión efectiva de información entre secuencias muy alejadas entre sí.</a:t>
            </a:r>
          </a:p>
          <a:p>
            <a:pPr marL="0" indent="0" algn="just">
              <a:buNone/>
            </a:pPr>
            <a:endParaRPr lang="es-ES" b="0" i="0" dirty="0">
              <a:solidFill>
                <a:srgbClr val="000000"/>
              </a:solidFill>
              <a:effectLst/>
              <a:latin typeface="Abadi Extra Light" panose="020B0204020104020204" pitchFamily="34" charset="0"/>
            </a:endParaRPr>
          </a:p>
          <a:p>
            <a:pPr algn="just"/>
            <a:r>
              <a:rPr lang="es-ES" b="0" i="0" dirty="0">
                <a:solidFill>
                  <a:srgbClr val="000000"/>
                </a:solidFill>
                <a:effectLst/>
                <a:latin typeface="Abadi Extra Light" panose="020B0204020104020204" pitchFamily="34" charset="0"/>
              </a:rPr>
              <a:t>Esto es debido a lo que se conoce como </a:t>
            </a:r>
            <a:r>
              <a:rPr lang="es-ES" b="1" i="0" dirty="0">
                <a:effectLst/>
                <a:latin typeface="Abadi Extra Light" panose="020B0204020104020204" pitchFamily="34" charset="0"/>
              </a:rPr>
              <a:t>desvanecimiento del gradiente o </a:t>
            </a:r>
            <a:r>
              <a:rPr lang="es-ES" b="1" i="1" dirty="0" err="1">
                <a:effectLst/>
                <a:latin typeface="Abadi Extra Light" panose="020B0204020104020204" pitchFamily="34" charset="0"/>
              </a:rPr>
              <a:t>gradient</a:t>
            </a:r>
            <a:r>
              <a:rPr lang="es-ES" b="1" i="1" dirty="0">
                <a:effectLst/>
                <a:latin typeface="Abadi Extra Light" panose="020B0204020104020204" pitchFamily="34" charset="0"/>
              </a:rPr>
              <a:t> </a:t>
            </a:r>
            <a:r>
              <a:rPr lang="es-ES" b="1" i="1" dirty="0" err="1">
                <a:effectLst/>
                <a:latin typeface="Abadi Extra Light" panose="020B0204020104020204" pitchFamily="34" charset="0"/>
              </a:rPr>
              <a:t>vanishing</a:t>
            </a:r>
            <a:r>
              <a:rPr lang="es-ES" b="1" i="1" dirty="0">
                <a:effectLst/>
                <a:latin typeface="Abadi Extra Light" panose="020B0204020104020204" pitchFamily="34" charset="0"/>
              </a:rPr>
              <a:t> </a:t>
            </a:r>
            <a:r>
              <a:rPr lang="es-ES" b="1" i="0" dirty="0">
                <a:effectLst/>
                <a:latin typeface="Abadi Extra Light" panose="020B0204020104020204" pitchFamily="34" charset="0"/>
              </a:rPr>
              <a:t>.</a:t>
            </a:r>
          </a:p>
          <a:p>
            <a:pPr algn="just"/>
            <a:endParaRPr lang="es-ES" b="0" i="0" dirty="0">
              <a:solidFill>
                <a:srgbClr val="000000"/>
              </a:solidFill>
              <a:effectLst/>
              <a:latin typeface="Abadi Extra Light" panose="020B0204020104020204" pitchFamily="34" charset="0"/>
            </a:endParaRPr>
          </a:p>
          <a:p>
            <a:pPr algn="just"/>
            <a:r>
              <a:rPr lang="es-ES" b="0" i="0" dirty="0">
                <a:solidFill>
                  <a:srgbClr val="000000"/>
                </a:solidFill>
                <a:effectLst/>
                <a:latin typeface="Abadi Extra Light" panose="020B0204020104020204" pitchFamily="34" charset="0"/>
              </a:rPr>
              <a:t>Esto sucede cuando, durante el entrenamiento de la red neuronal recurrente, los pesos se hacen cada vez más pequeños, provocando que el gradiente también disminuya y que apenas se actualicen los pesos de la red, perdiendo la capacidad de aprendizaje del modelo.</a:t>
            </a:r>
          </a:p>
          <a:p>
            <a:endParaRPr lang="es-CL" dirty="0">
              <a:latin typeface="Abadi Extra Light" panose="020B0204020104020204" pitchFamily="34" charset="0"/>
            </a:endParaRPr>
          </a:p>
        </p:txBody>
      </p:sp>
    </p:spTree>
    <p:extLst>
      <p:ext uri="{BB962C8B-B14F-4D97-AF65-F5344CB8AC3E}">
        <p14:creationId xmlns:p14="http://schemas.microsoft.com/office/powerpoint/2010/main" val="1709633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FBD348-9759-8E18-B8A3-76DA1BE350D9}"/>
              </a:ext>
            </a:extLst>
          </p:cNvPr>
          <p:cNvSpPr>
            <a:spLocks noGrp="1"/>
          </p:cNvSpPr>
          <p:nvPr>
            <p:ph type="title"/>
          </p:nvPr>
        </p:nvSpPr>
        <p:spPr/>
        <p:txBody>
          <a:bodyPr vert="horz" lIns="91440" tIns="45720" rIns="91440" bIns="45720" rtlCol="0" anchor="ctr">
            <a:normAutofit/>
          </a:bodyPr>
          <a:lstStyle/>
          <a:p>
            <a:r>
              <a:rPr lang="en-US" sz="3600" dirty="0">
                <a:solidFill>
                  <a:srgbClr val="00B0F0"/>
                </a:solidFill>
                <a:latin typeface="Abadi Extra Light" panose="020B0204020104020204" pitchFamily="34" charset="0"/>
              </a:rPr>
              <a:t>Redes </a:t>
            </a:r>
            <a:r>
              <a:rPr lang="en-US" sz="3600" dirty="0" err="1">
                <a:solidFill>
                  <a:srgbClr val="00B0F0"/>
                </a:solidFill>
                <a:latin typeface="Abadi Extra Light" panose="020B0204020104020204" pitchFamily="34" charset="0"/>
              </a:rPr>
              <a:t>Recurrentes</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4DCADB51-7E50-74CD-1483-98595F1E5211}"/>
              </a:ext>
            </a:extLst>
          </p:cNvPr>
          <p:cNvSpPr>
            <a:spLocks noGrp="1"/>
          </p:cNvSpPr>
          <p:nvPr>
            <p:ph idx="1"/>
          </p:nvPr>
        </p:nvSpPr>
        <p:spPr>
          <a:xfrm>
            <a:off x="838200" y="1874177"/>
            <a:ext cx="10515600" cy="4351338"/>
          </a:xfrm>
        </p:spPr>
        <p:txBody>
          <a:bodyPr vert="horz" lIns="91440" tIns="45720" rIns="91440" bIns="45720" rtlCol="0">
            <a:normAutofit fontScale="85000" lnSpcReduction="20000"/>
          </a:bodyPr>
          <a:lstStyle/>
          <a:p>
            <a:pPr algn="just"/>
            <a:r>
              <a:rPr lang="es-ES" dirty="0">
                <a:solidFill>
                  <a:srgbClr val="000000"/>
                </a:solidFill>
                <a:latin typeface="Abadi Extra Light" panose="020B0204020104020204" pitchFamily="34" charset="0"/>
              </a:rPr>
              <a:t>El concepto de redes neuronales recurrentes es seguir la secuencia de la información. </a:t>
            </a:r>
          </a:p>
          <a:p>
            <a:pPr algn="just"/>
            <a:endParaRPr lang="es-ES" dirty="0">
              <a:solidFill>
                <a:srgbClr val="000000"/>
              </a:solidFill>
              <a:latin typeface="Abadi Extra Light" panose="020B0204020104020204" pitchFamily="34" charset="0"/>
            </a:endParaRPr>
          </a:p>
          <a:p>
            <a:pPr algn="just"/>
            <a:r>
              <a:rPr lang="es-ES" dirty="0">
                <a:solidFill>
                  <a:srgbClr val="000000"/>
                </a:solidFill>
                <a:latin typeface="Abadi Extra Light" panose="020B0204020104020204" pitchFamily="34" charset="0"/>
              </a:rPr>
              <a:t>En el método tradicional, no podíamos considerar diferentes entradas y salidas de forma colectiva. Incluso si la información estaba conectada, la considerábamos como un individuo. </a:t>
            </a:r>
          </a:p>
          <a:p>
            <a:pPr algn="just"/>
            <a:endParaRPr lang="es-ES" dirty="0">
              <a:solidFill>
                <a:srgbClr val="000000"/>
              </a:solidFill>
              <a:latin typeface="Abadi Extra Light" panose="020B0204020104020204" pitchFamily="34" charset="0"/>
            </a:endParaRPr>
          </a:p>
          <a:p>
            <a:pPr algn="just"/>
            <a:r>
              <a:rPr lang="es-ES" dirty="0">
                <a:solidFill>
                  <a:srgbClr val="000000"/>
                </a:solidFill>
                <a:latin typeface="Abadi Extra Light" panose="020B0204020104020204" pitchFamily="34" charset="0"/>
              </a:rPr>
              <a:t> La salida en las redes neuronales recurrentes es de acuerdo con el cálculo anterior. </a:t>
            </a:r>
          </a:p>
          <a:p>
            <a:pPr algn="just"/>
            <a:endParaRPr lang="es-ES" dirty="0">
              <a:solidFill>
                <a:srgbClr val="000000"/>
              </a:solidFill>
              <a:latin typeface="Abadi Extra Light" panose="020B0204020104020204" pitchFamily="34" charset="0"/>
            </a:endParaRPr>
          </a:p>
          <a:p>
            <a:pPr algn="just"/>
            <a:r>
              <a:rPr lang="es-ES" dirty="0">
                <a:solidFill>
                  <a:srgbClr val="000000"/>
                </a:solidFill>
                <a:latin typeface="Abadi Extra Light" panose="020B0204020104020204" pitchFamily="34" charset="0"/>
              </a:rPr>
              <a:t>También se puede considerar a las redes neuronales recurrentes como una memoria que recoge y almacena información sobre lo que el sistema ha calculado hasta ahora. Un sistema de redes neuronales recurrentes puede mirar hacia atrás en unos pocos pasos para utilizar la información anterior para los hallazgos actuales.</a:t>
            </a:r>
            <a:endParaRPr lang="es-CL" dirty="0">
              <a:solidFill>
                <a:srgbClr val="000000"/>
              </a:solidFill>
              <a:latin typeface="Abadi Extra Light" panose="020B0204020104020204" pitchFamily="34" charset="0"/>
            </a:endParaRPr>
          </a:p>
        </p:txBody>
      </p:sp>
    </p:spTree>
    <p:extLst>
      <p:ext uri="{BB962C8B-B14F-4D97-AF65-F5344CB8AC3E}">
        <p14:creationId xmlns:p14="http://schemas.microsoft.com/office/powerpoint/2010/main" val="2318736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B0B6B3A-646F-85E6-FA6B-FB06CBD24E1D}"/>
              </a:ext>
            </a:extLst>
          </p:cNvPr>
          <p:cNvSpPr>
            <a:spLocks noGrp="1"/>
          </p:cNvSpPr>
          <p:nvPr>
            <p:ph idx="1"/>
          </p:nvPr>
        </p:nvSpPr>
        <p:spPr/>
        <p:txBody>
          <a:bodyPr/>
          <a:lstStyle/>
          <a:p>
            <a:pPr algn="just"/>
            <a:r>
              <a:rPr lang="es-ES" b="0" i="0" dirty="0">
                <a:solidFill>
                  <a:srgbClr val="000000"/>
                </a:solidFill>
                <a:effectLst/>
                <a:latin typeface="Abadi Extra Light" panose="020B0204020104020204" pitchFamily="34" charset="0"/>
              </a:rPr>
              <a:t>Para solucionar el problema de la memoria a corto plazo se crearon lo que se conocen como puertas o </a:t>
            </a:r>
            <a:r>
              <a:rPr lang="es-ES" b="0" i="1" dirty="0">
                <a:solidFill>
                  <a:srgbClr val="000000"/>
                </a:solidFill>
                <a:effectLst/>
                <a:latin typeface="Abadi Extra Light" panose="020B0204020104020204" pitchFamily="34" charset="0"/>
              </a:rPr>
              <a:t>gates </a:t>
            </a:r>
            <a:r>
              <a:rPr lang="es-ES" b="0" i="0" dirty="0">
                <a:solidFill>
                  <a:srgbClr val="000000"/>
                </a:solidFill>
                <a:effectLst/>
                <a:latin typeface="Abadi Extra Light" panose="020B0204020104020204" pitchFamily="34" charset="0"/>
              </a:rPr>
              <a:t>en inglés. Estas puertas son básicamente operaciones matemáticas como sumas o multiplicaciones que actúan como mecanismos para almacenar la información relevante y eliminar aquella que no tiene relevancia para el aprendizaje.</a:t>
            </a:r>
          </a:p>
          <a:p>
            <a:pPr algn="just"/>
            <a:endParaRPr lang="es-ES" b="0" i="0" dirty="0">
              <a:solidFill>
                <a:srgbClr val="000000"/>
              </a:solidFill>
              <a:effectLst/>
              <a:latin typeface="Abadi Extra Light" panose="020B0204020104020204" pitchFamily="34" charset="0"/>
            </a:endParaRPr>
          </a:p>
          <a:p>
            <a:pPr algn="just"/>
            <a:r>
              <a:rPr lang="es-ES" b="0" i="0" dirty="0">
                <a:solidFill>
                  <a:srgbClr val="000000"/>
                </a:solidFill>
                <a:effectLst/>
                <a:latin typeface="Abadi Extra Light" panose="020B0204020104020204" pitchFamily="34" charset="0"/>
              </a:rPr>
              <a:t>Los dos tipos de redes más importantes con estos mecanismos que permiten una memoria a más largo plazo son las </a:t>
            </a:r>
            <a:r>
              <a:rPr lang="es-ES" b="1" i="0" u="sng" dirty="0">
                <a:solidFill>
                  <a:srgbClr val="000000"/>
                </a:solidFill>
                <a:effectLst/>
                <a:latin typeface="Abadi Extra Light" panose="020B0204020104020204" pitchFamily="34" charset="0"/>
              </a:rPr>
              <a:t>LSTM ( </a:t>
            </a:r>
            <a:r>
              <a:rPr lang="es-ES" b="1" i="1" u="sng" dirty="0">
                <a:solidFill>
                  <a:srgbClr val="000000"/>
                </a:solidFill>
                <a:effectLst/>
                <a:latin typeface="Abadi Extra Light" panose="020B0204020104020204" pitchFamily="34" charset="0"/>
              </a:rPr>
              <a:t>Long-Short </a:t>
            </a:r>
            <a:r>
              <a:rPr lang="es-ES" b="1" i="1" u="sng" dirty="0" err="1">
                <a:solidFill>
                  <a:srgbClr val="000000"/>
                </a:solidFill>
                <a:effectLst/>
                <a:latin typeface="Abadi Extra Light" panose="020B0204020104020204" pitchFamily="34" charset="0"/>
              </a:rPr>
              <a:t>Term</a:t>
            </a:r>
            <a:r>
              <a:rPr lang="es-ES" b="1" i="1" u="sng" dirty="0">
                <a:solidFill>
                  <a:srgbClr val="000000"/>
                </a:solidFill>
                <a:effectLst/>
                <a:latin typeface="Abadi Extra Light" panose="020B0204020104020204" pitchFamily="34" charset="0"/>
              </a:rPr>
              <a:t> </a:t>
            </a:r>
            <a:r>
              <a:rPr lang="es-ES" b="1" i="1" u="sng" dirty="0" err="1">
                <a:solidFill>
                  <a:srgbClr val="000000"/>
                </a:solidFill>
                <a:effectLst/>
                <a:latin typeface="Abadi Extra Light" panose="020B0204020104020204" pitchFamily="34" charset="0"/>
              </a:rPr>
              <a:t>Memory</a:t>
            </a:r>
            <a:r>
              <a:rPr lang="es-ES" b="1" i="1" u="sng" dirty="0">
                <a:solidFill>
                  <a:srgbClr val="000000"/>
                </a:solidFill>
                <a:effectLst/>
                <a:latin typeface="Abadi Extra Light" panose="020B0204020104020204" pitchFamily="34" charset="0"/>
              </a:rPr>
              <a:t> </a:t>
            </a:r>
            <a:r>
              <a:rPr lang="es-ES" b="1" i="0" u="sng" dirty="0">
                <a:solidFill>
                  <a:srgbClr val="000000"/>
                </a:solidFill>
                <a:effectLst/>
                <a:latin typeface="Abadi Extra Light" panose="020B0204020104020204" pitchFamily="34" charset="0"/>
              </a:rPr>
              <a:t>) y las GRU ( </a:t>
            </a:r>
            <a:r>
              <a:rPr lang="es-ES" b="1" i="1" u="sng" dirty="0" err="1">
                <a:solidFill>
                  <a:srgbClr val="000000"/>
                </a:solidFill>
                <a:effectLst/>
                <a:latin typeface="Abadi Extra Light" panose="020B0204020104020204" pitchFamily="34" charset="0"/>
              </a:rPr>
              <a:t>Gated</a:t>
            </a:r>
            <a:r>
              <a:rPr lang="es-ES" b="1" i="1" u="sng" dirty="0">
                <a:solidFill>
                  <a:srgbClr val="000000"/>
                </a:solidFill>
                <a:effectLst/>
                <a:latin typeface="Abadi Extra Light" panose="020B0204020104020204" pitchFamily="34" charset="0"/>
              </a:rPr>
              <a:t> </a:t>
            </a:r>
            <a:r>
              <a:rPr lang="es-ES" b="1" i="1" u="sng" dirty="0" err="1">
                <a:solidFill>
                  <a:srgbClr val="000000"/>
                </a:solidFill>
                <a:effectLst/>
                <a:latin typeface="Abadi Extra Light" panose="020B0204020104020204" pitchFamily="34" charset="0"/>
              </a:rPr>
              <a:t>Recurrent</a:t>
            </a:r>
            <a:r>
              <a:rPr lang="es-ES" b="1" i="1" u="sng" dirty="0">
                <a:solidFill>
                  <a:srgbClr val="000000"/>
                </a:solidFill>
                <a:effectLst/>
                <a:latin typeface="Abadi Extra Light" panose="020B0204020104020204" pitchFamily="34" charset="0"/>
              </a:rPr>
              <a:t> </a:t>
            </a:r>
            <a:r>
              <a:rPr lang="es-ES" b="1" i="1" u="sng" dirty="0" err="1">
                <a:solidFill>
                  <a:srgbClr val="000000"/>
                </a:solidFill>
                <a:effectLst/>
                <a:latin typeface="Abadi Extra Light" panose="020B0204020104020204" pitchFamily="34" charset="0"/>
              </a:rPr>
              <a:t>Units</a:t>
            </a:r>
            <a:r>
              <a:rPr lang="es-ES" b="1" i="1" u="sng" dirty="0">
                <a:solidFill>
                  <a:srgbClr val="000000"/>
                </a:solidFill>
                <a:effectLst/>
                <a:latin typeface="Abadi Extra Light" panose="020B0204020104020204" pitchFamily="34" charset="0"/>
              </a:rPr>
              <a:t> </a:t>
            </a:r>
            <a:r>
              <a:rPr lang="es-ES" b="1" i="0" u="sng" dirty="0">
                <a:solidFill>
                  <a:srgbClr val="000000"/>
                </a:solidFill>
                <a:effectLst/>
                <a:latin typeface="Abadi Extra Light" panose="020B0204020104020204" pitchFamily="34" charset="0"/>
              </a:rPr>
              <a:t>).</a:t>
            </a:r>
          </a:p>
          <a:p>
            <a:endParaRPr lang="es-CL" dirty="0">
              <a:latin typeface="Abadi Extra Light" panose="020B0204020104020204" pitchFamily="34" charset="0"/>
            </a:endParaRPr>
          </a:p>
        </p:txBody>
      </p:sp>
    </p:spTree>
    <p:extLst>
      <p:ext uri="{BB962C8B-B14F-4D97-AF65-F5344CB8AC3E}">
        <p14:creationId xmlns:p14="http://schemas.microsoft.com/office/powerpoint/2010/main" val="1037154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0D4F85-5159-8737-66FF-F6256D89EC33}"/>
              </a:ext>
            </a:extLst>
          </p:cNvPr>
          <p:cNvSpPr>
            <a:spLocks noGrp="1"/>
          </p:cNvSpPr>
          <p:nvPr>
            <p:ph type="title"/>
          </p:nvPr>
        </p:nvSpPr>
        <p:spPr/>
        <p:txBody>
          <a:bodyPr vert="horz" lIns="91440" tIns="45720" rIns="91440" bIns="45720" rtlCol="0" anchor="ctr">
            <a:normAutofit/>
          </a:bodyPr>
          <a:lstStyle/>
          <a:p>
            <a:r>
              <a:rPr lang="es-CL" sz="3600" dirty="0">
                <a:solidFill>
                  <a:srgbClr val="00B0F0"/>
                </a:solidFill>
                <a:latin typeface="Abadi Extra Light" panose="020B0204020104020204" pitchFamily="34" charset="0"/>
              </a:rPr>
              <a:t>LSTM ( Long-Short </a:t>
            </a:r>
            <a:r>
              <a:rPr lang="es-CL" sz="3600" dirty="0" err="1">
                <a:solidFill>
                  <a:srgbClr val="00B0F0"/>
                </a:solidFill>
                <a:latin typeface="Abadi Extra Light" panose="020B0204020104020204" pitchFamily="34" charset="0"/>
              </a:rPr>
              <a:t>Term</a:t>
            </a:r>
            <a:r>
              <a:rPr lang="es-CL" sz="3600" dirty="0">
                <a:solidFill>
                  <a:srgbClr val="00B0F0"/>
                </a:solidFill>
                <a:latin typeface="Abadi Extra Light" panose="020B0204020104020204" pitchFamily="34" charset="0"/>
              </a:rPr>
              <a:t> </a:t>
            </a:r>
            <a:r>
              <a:rPr lang="es-CL" sz="3600" dirty="0" err="1">
                <a:solidFill>
                  <a:srgbClr val="00B0F0"/>
                </a:solidFill>
                <a:latin typeface="Abadi Extra Light" panose="020B0204020104020204" pitchFamily="34" charset="0"/>
              </a:rPr>
              <a:t>Memory</a:t>
            </a:r>
            <a:r>
              <a:rPr lang="es-CL" sz="3600" dirty="0">
                <a:solidFill>
                  <a:srgbClr val="00B0F0"/>
                </a:solidFill>
                <a:latin typeface="Abadi Extra Light" panose="020B0204020104020204" pitchFamily="34" charset="0"/>
              </a:rPr>
              <a:t> )</a:t>
            </a:r>
          </a:p>
        </p:txBody>
      </p:sp>
      <p:sp>
        <p:nvSpPr>
          <p:cNvPr id="3" name="Marcador de contenido 2">
            <a:extLst>
              <a:ext uri="{FF2B5EF4-FFF2-40B4-BE49-F238E27FC236}">
                <a16:creationId xmlns:a16="http://schemas.microsoft.com/office/drawing/2014/main" id="{293C0C4C-C267-A36A-3D01-AA0E75D44E31}"/>
              </a:ext>
            </a:extLst>
          </p:cNvPr>
          <p:cNvSpPr>
            <a:spLocks noGrp="1"/>
          </p:cNvSpPr>
          <p:nvPr>
            <p:ph idx="1"/>
          </p:nvPr>
        </p:nvSpPr>
        <p:spPr/>
        <p:txBody>
          <a:bodyPr/>
          <a:lstStyle/>
          <a:p>
            <a:pPr algn="just"/>
            <a:r>
              <a:rPr lang="es-ES" b="0" i="0" dirty="0">
                <a:solidFill>
                  <a:srgbClr val="000000"/>
                </a:solidFill>
                <a:effectLst/>
                <a:latin typeface="Abadi Extra Light" panose="020B0204020104020204" pitchFamily="34" charset="0"/>
              </a:rPr>
              <a:t>Las LSTM son un tipo de redes neuronales recurrentes donde cada célula de memoria o </a:t>
            </a:r>
            <a:r>
              <a:rPr lang="es-ES" b="0" i="1" dirty="0" err="1">
                <a:solidFill>
                  <a:srgbClr val="000000"/>
                </a:solidFill>
                <a:effectLst/>
                <a:latin typeface="Abadi Extra Light" panose="020B0204020104020204" pitchFamily="34" charset="0"/>
              </a:rPr>
              <a:t>memory</a:t>
            </a:r>
            <a:r>
              <a:rPr lang="es-ES" b="0" i="1" dirty="0">
                <a:solidFill>
                  <a:srgbClr val="000000"/>
                </a:solidFill>
                <a:effectLst/>
                <a:latin typeface="Abadi Extra Light" panose="020B0204020104020204" pitchFamily="34" charset="0"/>
              </a:rPr>
              <a:t> </a:t>
            </a:r>
            <a:r>
              <a:rPr lang="es-ES" b="0" i="1" dirty="0" err="1">
                <a:solidFill>
                  <a:srgbClr val="000000"/>
                </a:solidFill>
                <a:effectLst/>
                <a:latin typeface="Abadi Extra Light" panose="020B0204020104020204" pitchFamily="34" charset="0"/>
              </a:rPr>
              <a:t>cell</a:t>
            </a:r>
            <a:r>
              <a:rPr lang="es-ES" b="0" i="1" dirty="0">
                <a:solidFill>
                  <a:srgbClr val="000000"/>
                </a:solidFill>
                <a:effectLst/>
                <a:latin typeface="Abadi Extra Light" panose="020B0204020104020204" pitchFamily="34" charset="0"/>
              </a:rPr>
              <a:t> </a:t>
            </a:r>
            <a:r>
              <a:rPr lang="es-ES" b="0" i="0" dirty="0">
                <a:solidFill>
                  <a:srgbClr val="000000"/>
                </a:solidFill>
                <a:effectLst/>
                <a:latin typeface="Abadi Extra Light" panose="020B0204020104020204" pitchFamily="34" charset="0"/>
              </a:rPr>
              <a:t>tiene un grupo de operaciones muy especificas que permiten controlar el flujo de información. Estas operaciones, llamadas puertas permiten decidir si cierta información es recordada u olvidada.</a:t>
            </a:r>
          </a:p>
          <a:p>
            <a:pPr algn="just"/>
            <a:endParaRPr lang="es-ES" dirty="0">
              <a:solidFill>
                <a:srgbClr val="000000"/>
              </a:solidFill>
              <a:latin typeface="Abadi Extra Light" panose="020B0204020104020204" pitchFamily="34" charset="0"/>
            </a:endParaRPr>
          </a:p>
          <a:p>
            <a:pPr algn="just"/>
            <a:r>
              <a:rPr lang="es-ES" b="0" i="0" dirty="0">
                <a:solidFill>
                  <a:srgbClr val="000000"/>
                </a:solidFill>
                <a:effectLst/>
                <a:latin typeface="Abadi Extra Light" panose="020B0204020104020204" pitchFamily="34" charset="0"/>
              </a:rPr>
              <a:t>Dentro de la célula de memoria nueva información es añadida a la que proviene de secuencias anteriores, es decir, de pasos de tiempo previos. Como veremos, información relevante nueva es agregado al flujo gracias a una operación de adición.</a:t>
            </a:r>
            <a:endParaRPr lang="es-CL" dirty="0">
              <a:latin typeface="Abadi Extra Light" panose="020B0204020104020204" pitchFamily="34" charset="0"/>
            </a:endParaRPr>
          </a:p>
        </p:txBody>
      </p:sp>
    </p:spTree>
    <p:extLst>
      <p:ext uri="{BB962C8B-B14F-4D97-AF65-F5344CB8AC3E}">
        <p14:creationId xmlns:p14="http://schemas.microsoft.com/office/powerpoint/2010/main" val="452865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FB7BF2A-E952-C072-4FA4-52D1A95095D8}"/>
              </a:ext>
            </a:extLst>
          </p:cNvPr>
          <p:cNvSpPr>
            <a:spLocks noGrp="1"/>
          </p:cNvSpPr>
          <p:nvPr>
            <p:ph idx="1"/>
          </p:nvPr>
        </p:nvSpPr>
        <p:spPr>
          <a:xfrm>
            <a:off x="571162" y="700832"/>
            <a:ext cx="10814331" cy="5149710"/>
          </a:xfrm>
        </p:spPr>
        <p:txBody>
          <a:bodyPr vert="horz" lIns="91440" tIns="45720" rIns="91440" bIns="45720" rtlCol="0">
            <a:normAutofit fontScale="77500" lnSpcReduction="20000"/>
          </a:bodyPr>
          <a:lstStyle/>
          <a:p>
            <a:pPr algn="just"/>
            <a:r>
              <a:rPr lang="es-ES" b="1" dirty="0">
                <a:solidFill>
                  <a:srgbClr val="000000"/>
                </a:solidFill>
                <a:latin typeface="Abadi Extra Light" panose="020B0204020104020204" pitchFamily="34" charset="0"/>
              </a:rPr>
              <a:t>Puerta de olvido o </a:t>
            </a:r>
            <a:r>
              <a:rPr lang="es-ES" b="1" dirty="0" err="1">
                <a:solidFill>
                  <a:srgbClr val="000000"/>
                </a:solidFill>
                <a:latin typeface="Abadi Extra Light" panose="020B0204020104020204" pitchFamily="34" charset="0"/>
              </a:rPr>
              <a:t>forget</a:t>
            </a:r>
            <a:r>
              <a:rPr lang="es-ES" b="1" dirty="0">
                <a:solidFill>
                  <a:srgbClr val="000000"/>
                </a:solidFill>
                <a:latin typeface="Abadi Extra Light" panose="020B0204020104020204" pitchFamily="34" charset="0"/>
              </a:rPr>
              <a:t> gate : </a:t>
            </a:r>
            <a:r>
              <a:rPr lang="es-ES" dirty="0">
                <a:solidFill>
                  <a:srgbClr val="000000"/>
                </a:solidFill>
                <a:latin typeface="Abadi Extra Light" panose="020B0204020104020204" pitchFamily="34" charset="0"/>
              </a:rPr>
              <a:t>Esta puerta decide que información permanece y cual se olvida. Esto se consigue con la función sigmoide la cual tiene un dominio de 0 a 1. Cuanto más cerca del 0 menos importante es y cuanto más cerca del 1 más importante es.</a:t>
            </a:r>
          </a:p>
          <a:p>
            <a:pPr algn="just"/>
            <a:endParaRPr lang="es-ES" dirty="0">
              <a:solidFill>
                <a:srgbClr val="000000"/>
              </a:solidFill>
              <a:latin typeface="Abadi Extra Light" panose="020B0204020104020204" pitchFamily="34" charset="0"/>
            </a:endParaRPr>
          </a:p>
          <a:p>
            <a:pPr algn="just"/>
            <a:r>
              <a:rPr lang="es-ES" b="1" dirty="0">
                <a:solidFill>
                  <a:srgbClr val="000000"/>
                </a:solidFill>
                <a:latin typeface="Abadi Extra Light" panose="020B0204020104020204" pitchFamily="34" charset="0"/>
              </a:rPr>
              <a:t>Puerta de entrada o input gate : </a:t>
            </a:r>
            <a:r>
              <a:rPr lang="es-ES" dirty="0">
                <a:solidFill>
                  <a:srgbClr val="000000"/>
                </a:solidFill>
                <a:latin typeface="Abadi Extra Light" panose="020B0204020104020204" pitchFamily="34" charset="0"/>
              </a:rPr>
              <a:t>El papel de esta puerta consiste en actualizar el estado oculto (</a:t>
            </a:r>
            <a:r>
              <a:rPr lang="es-ES" dirty="0" err="1">
                <a:solidFill>
                  <a:srgbClr val="000000"/>
                </a:solidFill>
                <a:latin typeface="Abadi Extra Light" panose="020B0204020104020204" pitchFamily="34" charset="0"/>
              </a:rPr>
              <a:t>hidden</a:t>
            </a:r>
            <a:r>
              <a:rPr lang="es-ES" dirty="0">
                <a:solidFill>
                  <a:srgbClr val="000000"/>
                </a:solidFill>
                <a:latin typeface="Abadi Extra Light" panose="020B0204020104020204" pitchFamily="34" charset="0"/>
              </a:rPr>
              <a:t> </a:t>
            </a:r>
            <a:r>
              <a:rPr lang="es-ES" dirty="0" err="1">
                <a:solidFill>
                  <a:srgbClr val="000000"/>
                </a:solidFill>
                <a:latin typeface="Abadi Extra Light" panose="020B0204020104020204" pitchFamily="34" charset="0"/>
              </a:rPr>
              <a:t>state</a:t>
            </a:r>
            <a:r>
              <a:rPr lang="es-ES" dirty="0">
                <a:solidFill>
                  <a:srgbClr val="000000"/>
                </a:solidFill>
                <a:latin typeface="Abadi Extra Light" panose="020B0204020104020204" pitchFamily="34" charset="0"/>
              </a:rPr>
              <a:t>) de la célula. Para esta tarea, el nuevo input es añadido al estado oculto de un tiempo anterior. La cantidad de información que se conserva se controla con la función sigmoide transformando los valores entre 0 y 1. Cero significa que es poco importante y por tanto puede eliminarse. La unidad significa que es importante y que ese conocimiento debe permanecer.</a:t>
            </a:r>
          </a:p>
          <a:p>
            <a:pPr algn="just"/>
            <a:endParaRPr lang="es-ES" dirty="0">
              <a:solidFill>
                <a:srgbClr val="000000"/>
              </a:solidFill>
              <a:latin typeface="Abadi Extra Light" panose="020B0204020104020204" pitchFamily="34" charset="0"/>
            </a:endParaRPr>
          </a:p>
          <a:p>
            <a:pPr algn="just"/>
            <a:r>
              <a:rPr lang="es-ES" b="1" dirty="0">
                <a:solidFill>
                  <a:srgbClr val="000000"/>
                </a:solidFill>
                <a:latin typeface="Abadi Extra Light" panose="020B0204020104020204" pitchFamily="34" charset="0"/>
              </a:rPr>
              <a:t>Puerta de salida o output gate : </a:t>
            </a:r>
            <a:r>
              <a:rPr lang="es-ES" dirty="0">
                <a:solidFill>
                  <a:srgbClr val="000000"/>
                </a:solidFill>
                <a:latin typeface="Abadi Extra Light" panose="020B0204020104020204" pitchFamily="34" charset="0"/>
              </a:rPr>
              <a:t>Esta puerta se encarga de decidir cual será el estado oculto de la célula en el </a:t>
            </a:r>
            <a:r>
              <a:rPr lang="es-ES" dirty="0" err="1">
                <a:solidFill>
                  <a:srgbClr val="000000"/>
                </a:solidFill>
                <a:latin typeface="Abadi Extra Light" panose="020B0204020104020204" pitchFamily="34" charset="0"/>
              </a:rPr>
              <a:t>timestep</a:t>
            </a:r>
            <a:r>
              <a:rPr lang="es-ES" dirty="0">
                <a:solidFill>
                  <a:srgbClr val="000000"/>
                </a:solidFill>
                <a:latin typeface="Abadi Extra Light" panose="020B0204020104020204" pitchFamily="34" charset="0"/>
              </a:rPr>
              <a:t> siguiente. Para ello hace uso de la función sigmoide y </a:t>
            </a:r>
            <a:r>
              <a:rPr lang="es-ES" dirty="0" err="1">
                <a:solidFill>
                  <a:srgbClr val="000000"/>
                </a:solidFill>
                <a:latin typeface="Abadi Extra Light" panose="020B0204020104020204" pitchFamily="34" charset="0"/>
              </a:rPr>
              <a:t>tanh</a:t>
            </a:r>
            <a:r>
              <a:rPr lang="es-ES" dirty="0">
                <a:solidFill>
                  <a:srgbClr val="000000"/>
                </a:solidFill>
                <a:latin typeface="Abadi Extra Light" panose="020B0204020104020204" pitchFamily="34" charset="0"/>
              </a:rPr>
              <a:t>.</a:t>
            </a:r>
          </a:p>
          <a:p>
            <a:pPr algn="just"/>
            <a:endParaRPr lang="es-ES" dirty="0">
              <a:solidFill>
                <a:srgbClr val="000000"/>
              </a:solidFill>
              <a:latin typeface="Abadi Extra Light" panose="020B0204020104020204" pitchFamily="34" charset="0"/>
            </a:endParaRPr>
          </a:p>
          <a:p>
            <a:pPr algn="just"/>
            <a:r>
              <a:rPr lang="es-ES" b="1" dirty="0">
                <a:solidFill>
                  <a:srgbClr val="000000"/>
                </a:solidFill>
                <a:latin typeface="Abadi Extra Light" panose="020B0204020104020204" pitchFamily="34" charset="0"/>
              </a:rPr>
              <a:t>Función </a:t>
            </a:r>
            <a:r>
              <a:rPr lang="es-ES" b="1" dirty="0" err="1">
                <a:solidFill>
                  <a:srgbClr val="000000"/>
                </a:solidFill>
                <a:latin typeface="Abadi Extra Light" panose="020B0204020104020204" pitchFamily="34" charset="0"/>
              </a:rPr>
              <a:t>tanh</a:t>
            </a:r>
            <a:r>
              <a:rPr lang="es-ES" b="1" dirty="0">
                <a:solidFill>
                  <a:srgbClr val="000000"/>
                </a:solidFill>
                <a:latin typeface="Abadi Extra Light" panose="020B0204020104020204" pitchFamily="34" charset="0"/>
              </a:rPr>
              <a:t> : </a:t>
            </a:r>
            <a:r>
              <a:rPr lang="es-ES" dirty="0">
                <a:solidFill>
                  <a:srgbClr val="000000"/>
                </a:solidFill>
                <a:latin typeface="Abadi Extra Light" panose="020B0204020104020204" pitchFamily="34" charset="0"/>
              </a:rPr>
              <a:t>esta función que vemos repetidas veces dentro de las células de memoria tiene la función de comprimir los valores entre 1 y -1 para evitar que dichos valores incrementen mucho o disminuyan mucho y así evitar problemas del gradiente durante el entrenamiento que dificultarían el aprendizaje de la red.</a:t>
            </a:r>
          </a:p>
          <a:p>
            <a:pPr algn="just"/>
            <a:endParaRPr lang="es-CL" dirty="0">
              <a:solidFill>
                <a:srgbClr val="000000"/>
              </a:solidFill>
              <a:latin typeface="Abadi Extra Light" panose="020B0204020104020204" pitchFamily="34" charset="0"/>
            </a:endParaRPr>
          </a:p>
        </p:txBody>
      </p:sp>
    </p:spTree>
    <p:extLst>
      <p:ext uri="{BB962C8B-B14F-4D97-AF65-F5344CB8AC3E}">
        <p14:creationId xmlns:p14="http://schemas.microsoft.com/office/powerpoint/2010/main" val="1471782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squema de la estructura de una lstm">
            <a:extLst>
              <a:ext uri="{FF2B5EF4-FFF2-40B4-BE49-F238E27FC236}">
                <a16:creationId xmlns:a16="http://schemas.microsoft.com/office/drawing/2014/main" id="{81DFE1E2-71D4-9617-CFA2-A2770CE99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856" y="503728"/>
            <a:ext cx="8845943" cy="5897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09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DD026B-D192-655D-3D12-EA9425D2DC5B}"/>
              </a:ext>
            </a:extLst>
          </p:cNvPr>
          <p:cNvSpPr>
            <a:spLocks noGrp="1"/>
          </p:cNvSpPr>
          <p:nvPr>
            <p:ph type="title"/>
          </p:nvPr>
        </p:nvSpPr>
        <p:spPr/>
        <p:txBody>
          <a:bodyPr vert="horz" lIns="91440" tIns="45720" rIns="91440" bIns="45720" rtlCol="0" anchor="ctr">
            <a:normAutofit/>
          </a:bodyPr>
          <a:lstStyle/>
          <a:p>
            <a:r>
              <a:rPr lang="es-CL" sz="3600" dirty="0">
                <a:solidFill>
                  <a:srgbClr val="00B0F0"/>
                </a:solidFill>
                <a:latin typeface="Abadi Extra Light" panose="020B0204020104020204" pitchFamily="34" charset="0"/>
              </a:rPr>
              <a:t>GRU ( </a:t>
            </a:r>
            <a:r>
              <a:rPr lang="es-CL" sz="3600" dirty="0" err="1">
                <a:solidFill>
                  <a:srgbClr val="00B0F0"/>
                </a:solidFill>
                <a:latin typeface="Abadi Extra Light" panose="020B0204020104020204" pitchFamily="34" charset="0"/>
              </a:rPr>
              <a:t>Gated</a:t>
            </a:r>
            <a:r>
              <a:rPr lang="es-CL" sz="3600" dirty="0">
                <a:solidFill>
                  <a:srgbClr val="00B0F0"/>
                </a:solidFill>
                <a:latin typeface="Abadi Extra Light" panose="020B0204020104020204" pitchFamily="34" charset="0"/>
              </a:rPr>
              <a:t> </a:t>
            </a:r>
            <a:r>
              <a:rPr lang="es-CL" sz="3600" dirty="0" err="1">
                <a:solidFill>
                  <a:srgbClr val="00B0F0"/>
                </a:solidFill>
                <a:latin typeface="Abadi Extra Light" panose="020B0204020104020204" pitchFamily="34" charset="0"/>
              </a:rPr>
              <a:t>Recurrent</a:t>
            </a:r>
            <a:r>
              <a:rPr lang="es-CL" sz="3600" dirty="0">
                <a:solidFill>
                  <a:srgbClr val="00B0F0"/>
                </a:solidFill>
                <a:latin typeface="Abadi Extra Light" panose="020B0204020104020204" pitchFamily="34" charset="0"/>
              </a:rPr>
              <a:t> </a:t>
            </a:r>
            <a:r>
              <a:rPr lang="es-CL" sz="3600" dirty="0" err="1">
                <a:solidFill>
                  <a:srgbClr val="00B0F0"/>
                </a:solidFill>
                <a:latin typeface="Abadi Extra Light" panose="020B0204020104020204" pitchFamily="34" charset="0"/>
              </a:rPr>
              <a:t>Units</a:t>
            </a:r>
            <a:r>
              <a:rPr lang="es-CL" sz="3600" dirty="0">
                <a:solidFill>
                  <a:srgbClr val="00B0F0"/>
                </a:solidFill>
                <a:latin typeface="Abadi Extra Light" panose="020B0204020104020204" pitchFamily="34" charset="0"/>
              </a:rPr>
              <a:t> )</a:t>
            </a:r>
          </a:p>
        </p:txBody>
      </p:sp>
      <p:sp>
        <p:nvSpPr>
          <p:cNvPr id="3" name="Marcador de contenido 2">
            <a:extLst>
              <a:ext uri="{FF2B5EF4-FFF2-40B4-BE49-F238E27FC236}">
                <a16:creationId xmlns:a16="http://schemas.microsoft.com/office/drawing/2014/main" id="{76E8BCFE-53CA-454C-FE4C-47156A80D75B}"/>
              </a:ext>
            </a:extLst>
          </p:cNvPr>
          <p:cNvSpPr>
            <a:spLocks noGrp="1"/>
          </p:cNvSpPr>
          <p:nvPr>
            <p:ph idx="1"/>
          </p:nvPr>
        </p:nvSpPr>
        <p:spPr/>
        <p:txBody>
          <a:bodyPr vert="horz" lIns="91440" tIns="45720" rIns="91440" bIns="45720" rtlCol="0">
            <a:normAutofit/>
          </a:bodyPr>
          <a:lstStyle/>
          <a:p>
            <a:pPr algn="just"/>
            <a:r>
              <a:rPr lang="es-ES" dirty="0">
                <a:solidFill>
                  <a:srgbClr val="000000"/>
                </a:solidFill>
                <a:latin typeface="Abadi Extra Light" panose="020B0204020104020204" pitchFamily="34" charset="0"/>
              </a:rPr>
              <a:t>Las </a:t>
            </a:r>
            <a:r>
              <a:rPr lang="es-ES" dirty="0" err="1">
                <a:solidFill>
                  <a:srgbClr val="000000"/>
                </a:solidFill>
                <a:latin typeface="Abadi Extra Light" panose="020B0204020104020204" pitchFamily="34" charset="0"/>
              </a:rPr>
              <a:t>GRUs</a:t>
            </a:r>
            <a:r>
              <a:rPr lang="es-ES" dirty="0">
                <a:solidFill>
                  <a:srgbClr val="000000"/>
                </a:solidFill>
                <a:latin typeface="Abadi Extra Light" panose="020B0204020104020204" pitchFamily="34" charset="0"/>
              </a:rPr>
              <a:t> son neuronas recurrentes con una estructura algo diferente que las LSTM. Son más nuevas y eliminan algunas de las operaciones de las LSTM.</a:t>
            </a:r>
          </a:p>
          <a:p>
            <a:pPr algn="just"/>
            <a:endParaRPr lang="es-ES" dirty="0">
              <a:solidFill>
                <a:srgbClr val="000000"/>
              </a:solidFill>
              <a:latin typeface="Abadi Extra Light" panose="020B0204020104020204" pitchFamily="34" charset="0"/>
            </a:endParaRPr>
          </a:p>
          <a:p>
            <a:pPr algn="just"/>
            <a:r>
              <a:rPr lang="es-ES" dirty="0">
                <a:solidFill>
                  <a:srgbClr val="000000"/>
                </a:solidFill>
                <a:latin typeface="Abadi Extra Light" panose="020B0204020104020204" pitchFamily="34" charset="0"/>
              </a:rPr>
              <a:t>Las </a:t>
            </a:r>
            <a:r>
              <a:rPr lang="es-ES" dirty="0" err="1">
                <a:solidFill>
                  <a:srgbClr val="000000"/>
                </a:solidFill>
                <a:latin typeface="Abadi Extra Light" panose="020B0204020104020204" pitchFamily="34" charset="0"/>
              </a:rPr>
              <a:t>GRUs</a:t>
            </a:r>
            <a:r>
              <a:rPr lang="es-ES" dirty="0">
                <a:solidFill>
                  <a:srgbClr val="000000"/>
                </a:solidFill>
                <a:latin typeface="Abadi Extra Light" panose="020B0204020104020204" pitchFamily="34" charset="0"/>
              </a:rPr>
              <a:t> no emplean el estado de célula ( </a:t>
            </a:r>
            <a:r>
              <a:rPr lang="es-ES" dirty="0" err="1">
                <a:solidFill>
                  <a:srgbClr val="000000"/>
                </a:solidFill>
                <a:latin typeface="Abadi Extra Light" panose="020B0204020104020204" pitchFamily="34" charset="0"/>
              </a:rPr>
              <a:t>cell</a:t>
            </a:r>
            <a:r>
              <a:rPr lang="es-ES" dirty="0">
                <a:solidFill>
                  <a:srgbClr val="000000"/>
                </a:solidFill>
                <a:latin typeface="Abadi Extra Light" panose="020B0204020104020204" pitchFamily="34" charset="0"/>
              </a:rPr>
              <a:t> </a:t>
            </a:r>
            <a:r>
              <a:rPr lang="es-ES" dirty="0" err="1">
                <a:solidFill>
                  <a:srgbClr val="000000"/>
                </a:solidFill>
                <a:latin typeface="Abadi Extra Light" panose="020B0204020104020204" pitchFamily="34" charset="0"/>
              </a:rPr>
              <a:t>state</a:t>
            </a:r>
            <a:r>
              <a:rPr lang="es-ES" dirty="0">
                <a:solidFill>
                  <a:srgbClr val="000000"/>
                </a:solidFill>
                <a:latin typeface="Abadi Extra Light" panose="020B0204020104020204" pitchFamily="34" charset="0"/>
              </a:rPr>
              <a:t> ), solo usan el </a:t>
            </a:r>
            <a:r>
              <a:rPr lang="es-ES" dirty="0" err="1">
                <a:solidFill>
                  <a:srgbClr val="000000"/>
                </a:solidFill>
                <a:latin typeface="Abadi Extra Light" panose="020B0204020104020204" pitchFamily="34" charset="0"/>
              </a:rPr>
              <a:t>hidden</a:t>
            </a:r>
            <a:r>
              <a:rPr lang="es-ES" dirty="0">
                <a:solidFill>
                  <a:srgbClr val="000000"/>
                </a:solidFill>
                <a:latin typeface="Abadi Extra Light" panose="020B0204020104020204" pitchFamily="34" charset="0"/>
              </a:rPr>
              <a:t> </a:t>
            </a:r>
            <a:r>
              <a:rPr lang="es-ES" dirty="0" err="1">
                <a:solidFill>
                  <a:srgbClr val="000000"/>
                </a:solidFill>
                <a:latin typeface="Abadi Extra Light" panose="020B0204020104020204" pitchFamily="34" charset="0"/>
              </a:rPr>
              <a:t>state</a:t>
            </a:r>
            <a:r>
              <a:rPr lang="es-ES" dirty="0">
                <a:solidFill>
                  <a:srgbClr val="000000"/>
                </a:solidFill>
                <a:latin typeface="Abadi Extra Light" panose="020B0204020104020204" pitchFamily="34" charset="0"/>
              </a:rPr>
              <a:t> para la transferencia de información. Además, tienen 2 puertas o gates diferenciadas: la puerta de actualización o </a:t>
            </a:r>
            <a:r>
              <a:rPr lang="es-ES" dirty="0" err="1">
                <a:solidFill>
                  <a:srgbClr val="000000"/>
                </a:solidFill>
                <a:latin typeface="Abadi Extra Light" panose="020B0204020104020204" pitchFamily="34" charset="0"/>
              </a:rPr>
              <a:t>update</a:t>
            </a:r>
            <a:r>
              <a:rPr lang="es-ES" dirty="0">
                <a:solidFill>
                  <a:srgbClr val="000000"/>
                </a:solidFill>
                <a:latin typeface="Abadi Extra Light" panose="020B0204020104020204" pitchFamily="34" charset="0"/>
              </a:rPr>
              <a:t> gate y la puerta de reseteo o </a:t>
            </a:r>
            <a:r>
              <a:rPr lang="es-ES" dirty="0" err="1">
                <a:solidFill>
                  <a:srgbClr val="000000"/>
                </a:solidFill>
                <a:latin typeface="Abadi Extra Light" panose="020B0204020104020204" pitchFamily="34" charset="0"/>
              </a:rPr>
              <a:t>reset</a:t>
            </a:r>
            <a:r>
              <a:rPr lang="es-ES" dirty="0">
                <a:solidFill>
                  <a:srgbClr val="000000"/>
                </a:solidFill>
                <a:latin typeface="Abadi Extra Light" panose="020B0204020104020204" pitchFamily="34" charset="0"/>
              </a:rPr>
              <a:t> gate</a:t>
            </a:r>
          </a:p>
          <a:p>
            <a:pPr algn="just"/>
            <a:endParaRPr lang="es-CL" b="1" dirty="0">
              <a:solidFill>
                <a:srgbClr val="000000"/>
              </a:solidFill>
              <a:latin typeface="Abadi Extra Light" panose="020B0204020104020204" pitchFamily="34" charset="0"/>
            </a:endParaRPr>
          </a:p>
        </p:txBody>
      </p:sp>
    </p:spTree>
    <p:extLst>
      <p:ext uri="{BB962C8B-B14F-4D97-AF65-F5344CB8AC3E}">
        <p14:creationId xmlns:p14="http://schemas.microsoft.com/office/powerpoint/2010/main" val="1236575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8942F03-F5FF-6FB8-9991-A7E2B4C3DBCE}"/>
              </a:ext>
            </a:extLst>
          </p:cNvPr>
          <p:cNvSpPr>
            <a:spLocks noGrp="1"/>
          </p:cNvSpPr>
          <p:nvPr>
            <p:ph idx="1"/>
          </p:nvPr>
        </p:nvSpPr>
        <p:spPr>
          <a:xfrm>
            <a:off x="239389" y="660372"/>
            <a:ext cx="6226147" cy="4351338"/>
          </a:xfrm>
        </p:spPr>
        <p:txBody>
          <a:bodyPr vert="horz" lIns="91440" tIns="45720" rIns="91440" bIns="45720" rtlCol="0">
            <a:normAutofit lnSpcReduction="10000"/>
          </a:bodyPr>
          <a:lstStyle/>
          <a:p>
            <a:pPr algn="just"/>
            <a:r>
              <a:rPr lang="es-ES" b="1" u="sng" dirty="0">
                <a:solidFill>
                  <a:srgbClr val="000000"/>
                </a:solidFill>
                <a:latin typeface="Abadi Extra Light" panose="020B0204020104020204" pitchFamily="34" charset="0"/>
              </a:rPr>
              <a:t>Puerta de actualización :</a:t>
            </a:r>
            <a:r>
              <a:rPr lang="es-ES" dirty="0">
                <a:solidFill>
                  <a:srgbClr val="000000"/>
                </a:solidFill>
                <a:latin typeface="Abadi Extra Light" panose="020B0204020104020204" pitchFamily="34" charset="0"/>
              </a:rPr>
              <a:t> este tipo de puerta de las </a:t>
            </a:r>
            <a:r>
              <a:rPr lang="es-ES" dirty="0" err="1">
                <a:solidFill>
                  <a:srgbClr val="000000"/>
                </a:solidFill>
                <a:latin typeface="Abadi Extra Light" panose="020B0204020104020204" pitchFamily="34" charset="0"/>
              </a:rPr>
              <a:t>GRUs</a:t>
            </a:r>
            <a:r>
              <a:rPr lang="es-ES" dirty="0">
                <a:solidFill>
                  <a:srgbClr val="000000"/>
                </a:solidFill>
                <a:latin typeface="Abadi Extra Light" panose="020B0204020104020204" pitchFamily="34" charset="0"/>
              </a:rPr>
              <a:t> es parecida a la función de las puertas de olvido y de entrada de las </a:t>
            </a:r>
            <a:r>
              <a:rPr lang="es-ES" dirty="0" err="1">
                <a:solidFill>
                  <a:srgbClr val="000000"/>
                </a:solidFill>
                <a:latin typeface="Abadi Extra Light" panose="020B0204020104020204" pitchFamily="34" charset="0"/>
              </a:rPr>
              <a:t>LSTMs</a:t>
            </a:r>
            <a:r>
              <a:rPr lang="es-ES" dirty="0">
                <a:solidFill>
                  <a:srgbClr val="000000"/>
                </a:solidFill>
                <a:latin typeface="Abadi Extra Light" panose="020B0204020104020204" pitchFamily="34" charset="0"/>
              </a:rPr>
              <a:t>. Cuyo objetivo es mantener la información relevante y eliminar los datos que no son importantes.</a:t>
            </a:r>
          </a:p>
          <a:p>
            <a:pPr algn="just"/>
            <a:endParaRPr lang="es-ES" b="1" dirty="0">
              <a:solidFill>
                <a:srgbClr val="000000"/>
              </a:solidFill>
              <a:latin typeface="Abadi Extra Light" panose="020B0204020104020204" pitchFamily="34" charset="0"/>
            </a:endParaRPr>
          </a:p>
          <a:p>
            <a:pPr algn="just"/>
            <a:r>
              <a:rPr lang="es-ES" b="1" u="sng" dirty="0">
                <a:solidFill>
                  <a:srgbClr val="000000"/>
                </a:solidFill>
                <a:latin typeface="Abadi Extra Light" panose="020B0204020104020204" pitchFamily="34" charset="0"/>
              </a:rPr>
              <a:t>Puerta de reseteo :</a:t>
            </a:r>
            <a:r>
              <a:rPr lang="es-ES" b="1" dirty="0">
                <a:solidFill>
                  <a:srgbClr val="000000"/>
                </a:solidFill>
                <a:latin typeface="Abadi Extra Light" panose="020B0204020104020204" pitchFamily="34" charset="0"/>
              </a:rPr>
              <a:t> </a:t>
            </a:r>
            <a:r>
              <a:rPr lang="es-ES" dirty="0">
                <a:solidFill>
                  <a:srgbClr val="000000"/>
                </a:solidFill>
                <a:latin typeface="Abadi Extra Light" panose="020B0204020104020204" pitchFamily="34" charset="0"/>
              </a:rPr>
              <a:t>Esta puerta controla la cantidad de información que se olvida durante el aprendizaje de la red.</a:t>
            </a:r>
          </a:p>
          <a:p>
            <a:pPr algn="just"/>
            <a:endParaRPr lang="es-ES" b="1" dirty="0">
              <a:solidFill>
                <a:srgbClr val="000000"/>
              </a:solidFill>
              <a:latin typeface="Abadi Extra Light" panose="020B0204020104020204" pitchFamily="34" charset="0"/>
            </a:endParaRPr>
          </a:p>
          <a:p>
            <a:pPr algn="just"/>
            <a:endParaRPr lang="es-CL" b="1" dirty="0">
              <a:solidFill>
                <a:srgbClr val="000000"/>
              </a:solidFill>
              <a:latin typeface="Abadi Extra Light" panose="020B0204020104020204" pitchFamily="34" charset="0"/>
            </a:endParaRPr>
          </a:p>
        </p:txBody>
      </p:sp>
      <p:pic>
        <p:nvPicPr>
          <p:cNvPr id="7" name="Imagen 6">
            <a:extLst>
              <a:ext uri="{FF2B5EF4-FFF2-40B4-BE49-F238E27FC236}">
                <a16:creationId xmlns:a16="http://schemas.microsoft.com/office/drawing/2014/main" id="{EF77971E-9130-DD08-DA83-624C00F4810F}"/>
              </a:ext>
            </a:extLst>
          </p:cNvPr>
          <p:cNvPicPr>
            <a:picLocks noChangeAspect="1"/>
          </p:cNvPicPr>
          <p:nvPr/>
        </p:nvPicPr>
        <p:blipFill>
          <a:blip r:embed="rId2"/>
          <a:stretch>
            <a:fillRect/>
          </a:stretch>
        </p:blipFill>
        <p:spPr>
          <a:xfrm>
            <a:off x="6622461" y="1485900"/>
            <a:ext cx="5469526" cy="3525810"/>
          </a:xfrm>
          <a:prstGeom prst="rect">
            <a:avLst/>
          </a:prstGeom>
        </p:spPr>
      </p:pic>
    </p:spTree>
    <p:extLst>
      <p:ext uri="{BB962C8B-B14F-4D97-AF65-F5344CB8AC3E}">
        <p14:creationId xmlns:p14="http://schemas.microsoft.com/office/powerpoint/2010/main" val="150794527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5271</TotalTime>
  <Words>1751</Words>
  <Application>Microsoft Office PowerPoint</Application>
  <PresentationFormat>Panorámica</PresentationFormat>
  <Paragraphs>99</Paragraphs>
  <Slides>25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25</vt:i4>
      </vt:variant>
    </vt:vector>
  </HeadingPairs>
  <TitlesOfParts>
    <vt:vector size="32" baseType="lpstr">
      <vt:lpstr>Abadi Extra Light</vt:lpstr>
      <vt:lpstr>Arial</vt:lpstr>
      <vt:lpstr>Arial</vt:lpstr>
      <vt:lpstr>Calibri</vt:lpstr>
      <vt:lpstr>Calibri Light</vt:lpstr>
      <vt:lpstr>Roboto</vt:lpstr>
      <vt:lpstr>Tema de Office</vt:lpstr>
      <vt:lpstr>Presentación de PowerPoint</vt:lpstr>
      <vt:lpstr>Presentación de PowerPoint</vt:lpstr>
      <vt:lpstr>Redes de Hopfield</vt:lpstr>
      <vt:lpstr>Presentación de PowerPoint</vt:lpstr>
      <vt:lpstr>Redes de Hopfield</vt:lpstr>
      <vt:lpstr>Redes de Hopfield</vt:lpstr>
      <vt:lpstr>Redes de Hopfield</vt:lpstr>
      <vt:lpstr>Presentación de PowerPoint</vt:lpstr>
      <vt:lpstr>Presentación de PowerPoint</vt:lpstr>
      <vt:lpstr>Presentación de PowerPoint</vt:lpstr>
      <vt:lpstr>Redes Recurrentes</vt:lpstr>
      <vt:lpstr>La neurona recurrente</vt:lpstr>
      <vt:lpstr>Presentación de PowerPoint</vt:lpstr>
      <vt:lpstr>Tipos de redes neuronales recurrentes</vt:lpstr>
      <vt:lpstr>Tipos de redes neuronales recurrentes</vt:lpstr>
      <vt:lpstr>Tipos de redes neuronales recurrentes</vt:lpstr>
      <vt:lpstr>Celdas de memoria o memory cells</vt:lpstr>
      <vt:lpstr>Problema de la memoria a corto plazo ( short-term memory )</vt:lpstr>
      <vt:lpstr>Redes Recurrentes</vt:lpstr>
      <vt:lpstr>Presentación de PowerPoint</vt:lpstr>
      <vt:lpstr>LSTM ( Long-Short Term Memory )</vt:lpstr>
      <vt:lpstr>Presentación de PowerPoint</vt:lpstr>
      <vt:lpstr>Presentación de PowerPoint</vt:lpstr>
      <vt:lpstr>GRU ( Gated Recurrent Units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Sebastian Andres Ulloa Quezada</dc:creator>
  <cp:lastModifiedBy>Sebastian Andres Ulloa Quezada</cp:lastModifiedBy>
  <cp:revision>11</cp:revision>
  <dcterms:created xsi:type="dcterms:W3CDTF">2021-08-23T21:44:44Z</dcterms:created>
  <dcterms:modified xsi:type="dcterms:W3CDTF">2022-07-09T13:05:42Z</dcterms:modified>
</cp:coreProperties>
</file>